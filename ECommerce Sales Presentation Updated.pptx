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3" r:id="rId6"/>
    <p:sldId id="264" r:id="rId7"/>
    <p:sldId id="265" r:id="rId8"/>
    <p:sldId id="260" r:id="rId9"/>
    <p:sldId id="261" r:id="rId10"/>
    <p:sldId id="267" r:id="rId11"/>
    <p:sldId id="268" r:id="rId12"/>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4610"/>
  </p:normalViewPr>
  <p:slideViewPr>
    <p:cSldViewPr snapToGrid="0" snapToObjects="1">
      <p:cViewPr varScale="1">
        <p:scale>
          <a:sx n="97" d="100"/>
          <a:sy n="97" d="100"/>
        </p:scale>
        <p:origin x="4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800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75631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3857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6766560" y="-1097280"/>
            <a:ext cx="3474720" cy="3474720"/>
          </a:xfrm>
          <a:prstGeom prst="ellipse">
            <a:avLst/>
          </a:prstGeom>
          <a:solidFill>
            <a:srgbClr val="2A3580">
              <a:alpha val="60000"/>
            </a:srgbClr>
          </a:solidFill>
          <a:ln w="12700">
            <a:solidFill>
              <a:srgbClr val="2A3580"/>
            </a:solidFill>
            <a:prstDash val="solid"/>
          </a:ln>
        </p:spPr>
        <p:txBody>
          <a:bodyPr/>
          <a:lstStyle/>
          <a:p>
            <a:endParaRPr lang="en-US"/>
          </a:p>
        </p:txBody>
      </p:sp>
      <p:sp>
        <p:nvSpPr>
          <p:cNvPr id="4" name="Shape 2"/>
          <p:cNvSpPr/>
          <p:nvPr/>
        </p:nvSpPr>
        <p:spPr>
          <a:xfrm>
            <a:off x="7498080" y="3474720"/>
            <a:ext cx="2194560" cy="2194560"/>
          </a:xfrm>
          <a:prstGeom prst="ellipse">
            <a:avLst/>
          </a:prstGeom>
          <a:solidFill>
            <a:srgbClr val="0D9488">
              <a:alpha val="30000"/>
            </a:srgbClr>
          </a:solidFill>
          <a:ln w="12700">
            <a:solidFill>
              <a:srgbClr val="0D9488"/>
            </a:solidFill>
            <a:prstDash val="solid"/>
          </a:ln>
        </p:spPr>
        <p:txBody>
          <a:bodyPr/>
          <a:lstStyle/>
          <a:p>
            <a:endParaRPr lang="en-US"/>
          </a:p>
        </p:txBody>
      </p:sp>
      <p:sp>
        <p:nvSpPr>
          <p:cNvPr id="5" name="Shape 3"/>
          <p:cNvSpPr/>
          <p:nvPr/>
        </p:nvSpPr>
        <p:spPr>
          <a:xfrm>
            <a:off x="457200" y="960120"/>
            <a:ext cx="2377440" cy="347472"/>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57200" y="960120"/>
            <a:ext cx="2377440" cy="347472"/>
          </a:xfrm>
          <a:prstGeom prst="rect">
            <a:avLst/>
          </a:prstGeom>
          <a:noFill/>
          <a:ln/>
        </p:spPr>
        <p:txBody>
          <a:bodyPr wrap="square" lIns="0" tIns="0" rIns="0" bIns="0" rtlCol="0" anchor="ctr"/>
          <a:lstStyle/>
          <a:p>
            <a:pPr marL="0" indent="0" algn="ctr">
              <a:buNone/>
            </a:pPr>
            <a:r>
              <a:rPr lang="en-US" sz="900" b="1" kern="0" spc="200" dirty="0">
                <a:solidFill>
                  <a:srgbClr val="FFFFFF"/>
                </a:solidFill>
              </a:rPr>
              <a:t>INTERNSHIP </a:t>
            </a:r>
            <a:r>
              <a:rPr lang="en-US" sz="900" b="1" kern="0" spc="200" dirty="0" smtClean="0">
                <a:solidFill>
                  <a:srgbClr val="FFFFFF"/>
                </a:solidFill>
              </a:rPr>
              <a:t>PROJECT</a:t>
            </a:r>
            <a:endParaRPr lang="en-US" sz="900" dirty="0"/>
          </a:p>
        </p:txBody>
      </p:sp>
      <p:sp>
        <p:nvSpPr>
          <p:cNvPr id="7" name="Text 5"/>
          <p:cNvSpPr/>
          <p:nvPr/>
        </p:nvSpPr>
        <p:spPr>
          <a:xfrm>
            <a:off x="457200" y="1508760"/>
            <a:ext cx="7315200" cy="96012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E-Commerce Sales</a:t>
            </a:r>
            <a:endParaRPr lang="en-US" sz="4800" dirty="0"/>
          </a:p>
        </p:txBody>
      </p:sp>
      <p:sp>
        <p:nvSpPr>
          <p:cNvPr id="8" name="Text 6"/>
          <p:cNvSpPr/>
          <p:nvPr/>
        </p:nvSpPr>
        <p:spPr>
          <a:xfrm>
            <a:off x="457200" y="2377440"/>
            <a:ext cx="7315200" cy="777240"/>
          </a:xfrm>
          <a:prstGeom prst="rect">
            <a:avLst/>
          </a:prstGeom>
          <a:noFill/>
          <a:ln/>
        </p:spPr>
        <p:txBody>
          <a:bodyPr wrap="square" lIns="0" tIns="0" rIns="0" bIns="0" rtlCol="0" anchor="ctr"/>
          <a:lstStyle/>
          <a:p>
            <a:pPr marL="0" indent="0" algn="l">
              <a:buNone/>
            </a:pPr>
            <a:r>
              <a:rPr lang="en-US" sz="4800" b="1" dirty="0">
                <a:solidFill>
                  <a:srgbClr val="CADCFC"/>
                </a:solidFill>
                <a:latin typeface="Calibri" pitchFamily="34" charset="0"/>
                <a:ea typeface="Calibri" pitchFamily="34" charset="-122"/>
                <a:cs typeface="Calibri" pitchFamily="34" charset="-120"/>
              </a:rPr>
              <a:t>Performance Analysis</a:t>
            </a:r>
            <a:endParaRPr lang="en-US" sz="4800" dirty="0"/>
          </a:p>
        </p:txBody>
      </p:sp>
      <p:sp>
        <p:nvSpPr>
          <p:cNvPr id="9" name="Text 7"/>
          <p:cNvSpPr/>
          <p:nvPr/>
        </p:nvSpPr>
        <p:spPr>
          <a:xfrm>
            <a:off x="457200" y="3291840"/>
            <a:ext cx="7315200" cy="411480"/>
          </a:xfrm>
          <a:prstGeom prst="rect">
            <a:avLst/>
          </a:prstGeom>
          <a:noFill/>
          <a:ln/>
        </p:spPr>
        <p:txBody>
          <a:bodyPr wrap="square" lIns="0" tIns="0" rIns="0" bIns="0" rtlCol="0" anchor="ctr"/>
          <a:lstStyle/>
          <a:p>
            <a:pPr marL="0" indent="0" algn="l">
              <a:buNone/>
            </a:pPr>
            <a:r>
              <a:rPr lang="en-US" sz="1400" i="1" dirty="0">
                <a:solidFill>
                  <a:srgbClr val="CADCFC"/>
                </a:solidFill>
                <a:latin typeface="Calibri Light" pitchFamily="34" charset="0"/>
                <a:ea typeface="Calibri Light" pitchFamily="34" charset="-122"/>
                <a:cs typeface="Calibri Light" pitchFamily="34" charset="-120"/>
              </a:rPr>
              <a:t>Revenue Trends · KPI Deep-Dive · Strategic Recommendations</a:t>
            </a:r>
            <a:endParaRPr lang="en-US" sz="1400" dirty="0"/>
          </a:p>
        </p:txBody>
      </p:sp>
      <p:sp>
        <p:nvSpPr>
          <p:cNvPr id="10" name="Shape 8"/>
          <p:cNvSpPr/>
          <p:nvPr/>
        </p:nvSpPr>
        <p:spPr>
          <a:xfrm>
            <a:off x="457200" y="3840480"/>
            <a:ext cx="3474720" cy="27432"/>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457200" y="4023360"/>
            <a:ext cx="6400800" cy="320040"/>
          </a:xfrm>
          <a:prstGeom prst="rect">
            <a:avLst/>
          </a:prstGeom>
          <a:noFill/>
          <a:ln/>
        </p:spPr>
        <p:txBody>
          <a:bodyPr wrap="square" lIns="0" tIns="0" rIns="0" bIns="0" rtlCol="0" anchor="ctr"/>
          <a:lstStyle/>
          <a:p>
            <a:pPr marL="0" indent="0">
              <a:buNone/>
            </a:pPr>
            <a:r>
              <a:rPr lang="en-US" sz="1100" dirty="0" smtClean="0">
                <a:solidFill>
                  <a:srgbClr val="64748B"/>
                </a:solidFill>
                <a:latin typeface="Calibri Light" pitchFamily="34" charset="0"/>
                <a:ea typeface="Calibri Light" pitchFamily="34" charset="-122"/>
                <a:cs typeface="Calibri Light" pitchFamily="34" charset="-120"/>
              </a:rPr>
              <a:t>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A3580"/>
          </a:solidFill>
          <a:ln w="12700">
            <a:solidFill>
              <a:srgbClr val="2A3580"/>
            </a:solidFill>
            <a:prstDash val="solid"/>
          </a:ln>
        </p:spPr>
        <p:txBody>
          <a:bodyPr/>
          <a:lstStyle/>
          <a:p>
            <a:endParaRPr lang="en-US"/>
          </a:p>
        </p:txBody>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10058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BUSINESS PROBLEM</a:t>
            </a:r>
            <a:endParaRPr lang="en-US" sz="2800" dirty="0"/>
          </a:p>
        </p:txBody>
      </p:sp>
      <p:sp>
        <p:nvSpPr>
          <p:cNvPr id="5" name="Shape 3"/>
          <p:cNvSpPr/>
          <p:nvPr/>
        </p:nvSpPr>
        <p:spPr>
          <a:xfrm>
            <a:off x="320040" y="1417320"/>
            <a:ext cx="2697480" cy="3200400"/>
          </a:xfrm>
          <a:prstGeom prst="rect">
            <a:avLst/>
          </a:prstGeom>
          <a:solidFill>
            <a:srgbClr val="2A3580"/>
          </a:solidFill>
          <a:ln w="12700">
            <a:solidFill>
              <a:srgbClr val="334155"/>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417320"/>
            <a:ext cx="2697480" cy="73152"/>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1303020" y="1645920"/>
            <a:ext cx="731520" cy="731520"/>
          </a:xfrm>
          <a:prstGeom prst="ellipse">
            <a:avLst/>
          </a:prstGeom>
          <a:solidFill>
            <a:srgbClr val="0D9488">
              <a:alpha val="80000"/>
            </a:srgbClr>
          </a:solidFill>
          <a:ln w="12700">
            <a:solidFill>
              <a:srgbClr val="0D9488"/>
            </a:solidFill>
            <a:prstDash val="solid"/>
          </a:ln>
        </p:spPr>
        <p:txBody>
          <a:bodyPr/>
          <a:lstStyle/>
          <a:p>
            <a:endParaRPr lang="en-US"/>
          </a:p>
        </p:txBody>
      </p:sp>
      <p:sp>
        <p:nvSpPr>
          <p:cNvPr id="8" name="Text 6"/>
          <p:cNvSpPr/>
          <p:nvPr/>
        </p:nvSpPr>
        <p:spPr>
          <a:xfrm>
            <a:off x="1303020" y="1645920"/>
            <a:ext cx="731520" cy="73152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9" name="Text 7"/>
          <p:cNvSpPr/>
          <p:nvPr/>
        </p:nvSpPr>
        <p:spPr>
          <a:xfrm>
            <a:off x="429768" y="2514600"/>
            <a:ext cx="2468880" cy="594360"/>
          </a:xfrm>
          <a:prstGeom prst="rect">
            <a:avLst/>
          </a:prstGeom>
          <a:noFill/>
          <a:ln/>
        </p:spPr>
        <p:txBody>
          <a:bodyPr wrap="square" lIns="0" tIns="0" rIns="0" bIns="0" rtlCol="0" anchor="ctr"/>
          <a:lstStyle/>
          <a:p>
            <a:pPr marL="0" indent="0" algn="ctr">
              <a:buNone/>
            </a:pPr>
            <a:r>
              <a:rPr lang="en-US" sz="1300" b="1" dirty="0">
                <a:solidFill>
                  <a:srgbClr val="CADCFC"/>
                </a:solidFill>
                <a:latin typeface="Calibri" pitchFamily="34" charset="0"/>
                <a:ea typeface="Calibri" pitchFamily="34" charset="-122"/>
                <a:cs typeface="Calibri" pitchFamily="34" charset="-120"/>
              </a:rPr>
              <a:t>What drives revenue?</a:t>
            </a:r>
            <a:endParaRPr lang="en-US" sz="1300" dirty="0"/>
          </a:p>
        </p:txBody>
      </p:sp>
      <p:sp>
        <p:nvSpPr>
          <p:cNvPr id="10" name="Text 8"/>
          <p:cNvSpPr/>
          <p:nvPr/>
        </p:nvSpPr>
        <p:spPr>
          <a:xfrm>
            <a:off x="457200" y="3154680"/>
            <a:ext cx="2423160" cy="1325880"/>
          </a:xfrm>
          <a:prstGeom prst="rect">
            <a:avLst/>
          </a:prstGeom>
          <a:noFill/>
          <a:ln/>
        </p:spPr>
        <p:txBody>
          <a:bodyPr wrap="square" lIns="0" tIns="0" rIns="0" bIns="0" rtlCol="0" anchor="ctr"/>
          <a:lstStyle/>
          <a:p>
            <a:pPr marL="0" indent="0" algn="l">
              <a:buNone/>
            </a:pPr>
            <a:r>
              <a:rPr lang="en-US" sz="1050" dirty="0">
                <a:solidFill>
                  <a:srgbClr val="CADCFC"/>
                </a:solidFill>
                <a:latin typeface="Calibri Light" pitchFamily="34" charset="0"/>
                <a:ea typeface="Calibri Light" pitchFamily="34" charset="-122"/>
                <a:cs typeface="Calibri Light" pitchFamily="34" charset="-120"/>
              </a:rPr>
              <a:t>Management needs to understand whether growth comes from more customers placing orders or from customers spending more per order, or both.</a:t>
            </a:r>
            <a:endParaRPr lang="en-US" sz="1050" dirty="0"/>
          </a:p>
        </p:txBody>
      </p:sp>
      <p:sp>
        <p:nvSpPr>
          <p:cNvPr id="11" name="Shape 9"/>
          <p:cNvSpPr/>
          <p:nvPr/>
        </p:nvSpPr>
        <p:spPr>
          <a:xfrm>
            <a:off x="3246120" y="1417320"/>
            <a:ext cx="2697480" cy="3200400"/>
          </a:xfrm>
          <a:prstGeom prst="rect">
            <a:avLst/>
          </a:prstGeom>
          <a:solidFill>
            <a:srgbClr val="2A3580"/>
          </a:solidFill>
          <a:ln w="12700">
            <a:solidFill>
              <a:srgbClr val="334155"/>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46120" y="1417320"/>
            <a:ext cx="2697480" cy="73152"/>
          </a:xfrm>
          <a:prstGeom prst="rect">
            <a:avLst/>
          </a:prstGeom>
          <a:solidFill>
            <a:srgbClr val="0D9488"/>
          </a:solidFill>
          <a:ln w="12700">
            <a:solidFill>
              <a:srgbClr val="0D9488"/>
            </a:solidFill>
            <a:prstDash val="solid"/>
          </a:ln>
        </p:spPr>
        <p:txBody>
          <a:bodyPr/>
          <a:lstStyle/>
          <a:p>
            <a:endParaRPr lang="en-US"/>
          </a:p>
        </p:txBody>
      </p:sp>
      <p:sp>
        <p:nvSpPr>
          <p:cNvPr id="13" name="Shape 11"/>
          <p:cNvSpPr/>
          <p:nvPr/>
        </p:nvSpPr>
        <p:spPr>
          <a:xfrm>
            <a:off x="4229100" y="1645920"/>
            <a:ext cx="731520" cy="731520"/>
          </a:xfrm>
          <a:prstGeom prst="ellipse">
            <a:avLst/>
          </a:prstGeom>
          <a:solidFill>
            <a:srgbClr val="0D9488">
              <a:alpha val="80000"/>
            </a:srgbClr>
          </a:solidFill>
          <a:ln w="12700">
            <a:solidFill>
              <a:srgbClr val="0D9488"/>
            </a:solidFill>
            <a:prstDash val="solid"/>
          </a:ln>
        </p:spPr>
        <p:txBody>
          <a:bodyPr/>
          <a:lstStyle/>
          <a:p>
            <a:endParaRPr lang="en-US"/>
          </a:p>
        </p:txBody>
      </p:sp>
      <p:sp>
        <p:nvSpPr>
          <p:cNvPr id="14" name="Text 12"/>
          <p:cNvSpPr/>
          <p:nvPr/>
        </p:nvSpPr>
        <p:spPr>
          <a:xfrm>
            <a:off x="4229100" y="1645920"/>
            <a:ext cx="731520" cy="73152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5" name="Text 13"/>
          <p:cNvSpPr/>
          <p:nvPr/>
        </p:nvSpPr>
        <p:spPr>
          <a:xfrm>
            <a:off x="3355848" y="2514600"/>
            <a:ext cx="2468880" cy="594360"/>
          </a:xfrm>
          <a:prstGeom prst="rect">
            <a:avLst/>
          </a:prstGeom>
          <a:noFill/>
          <a:ln/>
        </p:spPr>
        <p:txBody>
          <a:bodyPr wrap="square" lIns="0" tIns="0" rIns="0" bIns="0" rtlCol="0" anchor="ctr"/>
          <a:lstStyle/>
          <a:p>
            <a:pPr marL="0" indent="0" algn="ctr">
              <a:buNone/>
            </a:pPr>
            <a:r>
              <a:rPr lang="en-US" sz="1300" b="1" dirty="0">
                <a:solidFill>
                  <a:srgbClr val="CADCFC"/>
                </a:solidFill>
                <a:latin typeface="Calibri" pitchFamily="34" charset="0"/>
                <a:ea typeface="Calibri" pitchFamily="34" charset="-122"/>
                <a:cs typeface="Calibri" pitchFamily="34" charset="-120"/>
              </a:rPr>
              <a:t>When does demand peak?</a:t>
            </a:r>
            <a:endParaRPr lang="en-US" sz="1300" dirty="0"/>
          </a:p>
        </p:txBody>
      </p:sp>
      <p:sp>
        <p:nvSpPr>
          <p:cNvPr id="16" name="Text 14"/>
          <p:cNvSpPr/>
          <p:nvPr/>
        </p:nvSpPr>
        <p:spPr>
          <a:xfrm>
            <a:off x="3383280" y="3154680"/>
            <a:ext cx="2423160" cy="1325880"/>
          </a:xfrm>
          <a:prstGeom prst="rect">
            <a:avLst/>
          </a:prstGeom>
          <a:noFill/>
          <a:ln/>
        </p:spPr>
        <p:txBody>
          <a:bodyPr wrap="square" lIns="0" tIns="0" rIns="0" bIns="0" rtlCol="0" anchor="ctr"/>
          <a:lstStyle/>
          <a:p>
            <a:pPr marL="0" indent="0" algn="l">
              <a:buNone/>
            </a:pPr>
            <a:r>
              <a:rPr lang="en-US" sz="1050" dirty="0">
                <a:solidFill>
                  <a:srgbClr val="CADCFC"/>
                </a:solidFill>
                <a:latin typeface="Calibri Light" pitchFamily="34" charset="0"/>
                <a:ea typeface="Calibri Light" pitchFamily="34" charset="-122"/>
                <a:cs typeface="Calibri Light" pitchFamily="34" charset="-120"/>
              </a:rPr>
              <a:t>Without knowing which months produce the highest and lowest revenue, the business cannot plan inventory, staffing, or marketing spend efficiently.</a:t>
            </a:r>
            <a:endParaRPr lang="en-US" sz="1050" dirty="0"/>
          </a:p>
        </p:txBody>
      </p:sp>
      <p:sp>
        <p:nvSpPr>
          <p:cNvPr id="17" name="Shape 15"/>
          <p:cNvSpPr/>
          <p:nvPr/>
        </p:nvSpPr>
        <p:spPr>
          <a:xfrm>
            <a:off x="6172200" y="1417320"/>
            <a:ext cx="2697480" cy="3200400"/>
          </a:xfrm>
          <a:prstGeom prst="rect">
            <a:avLst/>
          </a:prstGeom>
          <a:solidFill>
            <a:srgbClr val="2A3580"/>
          </a:solidFill>
          <a:ln w="12700">
            <a:solidFill>
              <a:srgbClr val="334155"/>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6172200" y="1417320"/>
            <a:ext cx="2697480" cy="73152"/>
          </a:xfrm>
          <a:prstGeom prst="rect">
            <a:avLst/>
          </a:prstGeom>
          <a:solidFill>
            <a:srgbClr val="0D9488"/>
          </a:solidFill>
          <a:ln w="12700">
            <a:solidFill>
              <a:srgbClr val="0D9488"/>
            </a:solidFill>
            <a:prstDash val="solid"/>
          </a:ln>
        </p:spPr>
        <p:txBody>
          <a:bodyPr/>
          <a:lstStyle/>
          <a:p>
            <a:endParaRPr lang="en-US"/>
          </a:p>
        </p:txBody>
      </p:sp>
      <p:sp>
        <p:nvSpPr>
          <p:cNvPr id="19" name="Shape 17"/>
          <p:cNvSpPr/>
          <p:nvPr/>
        </p:nvSpPr>
        <p:spPr>
          <a:xfrm>
            <a:off x="7155180" y="1645920"/>
            <a:ext cx="731520" cy="731520"/>
          </a:xfrm>
          <a:prstGeom prst="ellipse">
            <a:avLst/>
          </a:prstGeom>
          <a:solidFill>
            <a:srgbClr val="0D9488">
              <a:alpha val="80000"/>
            </a:srgbClr>
          </a:solidFill>
          <a:ln w="12700">
            <a:solidFill>
              <a:srgbClr val="0D9488"/>
            </a:solidFill>
            <a:prstDash val="solid"/>
          </a:ln>
        </p:spPr>
        <p:txBody>
          <a:bodyPr/>
          <a:lstStyle/>
          <a:p>
            <a:endParaRPr lang="en-US"/>
          </a:p>
        </p:txBody>
      </p:sp>
      <p:sp>
        <p:nvSpPr>
          <p:cNvPr id="20" name="Text 18"/>
          <p:cNvSpPr/>
          <p:nvPr/>
        </p:nvSpPr>
        <p:spPr>
          <a:xfrm>
            <a:off x="7155180" y="1645920"/>
            <a:ext cx="731520" cy="73152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21" name="Text 19"/>
          <p:cNvSpPr/>
          <p:nvPr/>
        </p:nvSpPr>
        <p:spPr>
          <a:xfrm>
            <a:off x="6281928" y="2514600"/>
            <a:ext cx="2468880" cy="594360"/>
          </a:xfrm>
          <a:prstGeom prst="rect">
            <a:avLst/>
          </a:prstGeom>
          <a:noFill/>
          <a:ln/>
        </p:spPr>
        <p:txBody>
          <a:bodyPr wrap="square" lIns="0" tIns="0" rIns="0" bIns="0" rtlCol="0" anchor="ctr"/>
          <a:lstStyle/>
          <a:p>
            <a:pPr marL="0" indent="0" algn="ctr">
              <a:buNone/>
            </a:pPr>
            <a:r>
              <a:rPr lang="en-US" sz="1300" b="1" dirty="0">
                <a:solidFill>
                  <a:srgbClr val="CADCFC"/>
                </a:solidFill>
                <a:latin typeface="Calibri" pitchFamily="34" charset="0"/>
                <a:ea typeface="Calibri" pitchFamily="34" charset="-122"/>
                <a:cs typeface="Calibri" pitchFamily="34" charset="-120"/>
              </a:rPr>
              <a:t>Are KPIs on track?</a:t>
            </a:r>
            <a:endParaRPr lang="en-US" sz="1300" dirty="0"/>
          </a:p>
        </p:txBody>
      </p:sp>
      <p:sp>
        <p:nvSpPr>
          <p:cNvPr id="22" name="Text 20"/>
          <p:cNvSpPr/>
          <p:nvPr/>
        </p:nvSpPr>
        <p:spPr>
          <a:xfrm>
            <a:off x="6309360" y="3154680"/>
            <a:ext cx="2423160" cy="1325880"/>
          </a:xfrm>
          <a:prstGeom prst="rect">
            <a:avLst/>
          </a:prstGeom>
          <a:noFill/>
          <a:ln/>
        </p:spPr>
        <p:txBody>
          <a:bodyPr wrap="square" lIns="0" tIns="0" rIns="0" bIns="0" rtlCol="0" anchor="ctr"/>
          <a:lstStyle/>
          <a:p>
            <a:pPr marL="0" indent="0" algn="l">
              <a:buNone/>
            </a:pPr>
            <a:r>
              <a:rPr lang="en-US" sz="1050" dirty="0">
                <a:solidFill>
                  <a:srgbClr val="CADCFC"/>
                </a:solidFill>
                <a:latin typeface="Calibri Light" pitchFamily="34" charset="0"/>
                <a:ea typeface="Calibri Light" pitchFamily="34" charset="-122"/>
                <a:cs typeface="Calibri Light" pitchFamily="34" charset="-120"/>
              </a:rPr>
              <a:t>Total Revenue, Order Volume, and Average Order Value must be tracked together to get a complete picture of commercial health and identify where to act.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960120"/>
            <a:ext cx="9144000" cy="45720"/>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SALES KPI SNAPSHOT</a:t>
            </a:r>
            <a:endParaRPr lang="en-US" sz="2600" dirty="0"/>
          </a:p>
        </p:txBody>
      </p:sp>
      <p:sp>
        <p:nvSpPr>
          <p:cNvPr id="5" name="Text 3"/>
          <p:cNvSpPr/>
          <p:nvPr/>
        </p:nvSpPr>
        <p:spPr>
          <a:xfrm>
            <a:off x="457200" y="0"/>
            <a:ext cx="8229600" cy="960120"/>
          </a:xfrm>
          <a:prstGeom prst="rect">
            <a:avLst/>
          </a:prstGeom>
          <a:noFill/>
          <a:ln/>
        </p:spPr>
        <p:txBody>
          <a:bodyPr wrap="square" lIns="0" tIns="0" rIns="0" bIns="0" rtlCol="0" anchor="b"/>
          <a:lstStyle/>
          <a:p>
            <a:pPr marL="0" indent="0" algn="l">
              <a:buNone/>
            </a:pPr>
            <a:r>
              <a:rPr lang="en-US" sz="1100" i="1" dirty="0">
                <a:solidFill>
                  <a:srgbClr val="CADCFC"/>
                </a:solidFill>
                <a:latin typeface="Calibri Light" pitchFamily="34" charset="0"/>
                <a:ea typeface="Calibri Light" pitchFamily="34" charset="-122"/>
                <a:cs typeface="Calibri Light" pitchFamily="34" charset="-120"/>
              </a:rPr>
              <a:t>Core performance indicators from the Sales Overview dashboard</a:t>
            </a:r>
            <a:endParaRPr lang="en-US" sz="1100" dirty="0"/>
          </a:p>
        </p:txBody>
      </p:sp>
      <p:sp>
        <p:nvSpPr>
          <p:cNvPr id="6" name="Shape 4"/>
          <p:cNvSpPr/>
          <p:nvPr/>
        </p:nvSpPr>
        <p:spPr>
          <a:xfrm>
            <a:off x="315468" y="1435608"/>
            <a:ext cx="2697480" cy="3383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325880"/>
            <a:ext cx="2697480" cy="109728"/>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29768" y="1581912"/>
            <a:ext cx="2468880" cy="411480"/>
          </a:xfrm>
          <a:prstGeom prst="rect">
            <a:avLst/>
          </a:prstGeom>
          <a:noFill/>
          <a:ln/>
        </p:spPr>
        <p:txBody>
          <a:bodyPr wrap="square" lIns="0" tIns="0" rIns="0" bIns="0" rtlCol="0" anchor="ctr"/>
          <a:lstStyle/>
          <a:p>
            <a:pPr marL="0" indent="0" algn="ctr">
              <a:buNone/>
            </a:pPr>
            <a:r>
              <a:rPr lang="en-US" sz="1000" b="1" kern="0" spc="200" dirty="0">
                <a:solidFill>
                  <a:srgbClr val="64748B"/>
                </a:solidFill>
                <a:latin typeface="Calibri" pitchFamily="34" charset="0"/>
                <a:ea typeface="Calibri" pitchFamily="34" charset="-122"/>
                <a:cs typeface="Calibri" pitchFamily="34" charset="-120"/>
              </a:rPr>
              <a:t>TOTAL REVENUE</a:t>
            </a:r>
            <a:endParaRPr lang="en-US" sz="1000" dirty="0"/>
          </a:p>
        </p:txBody>
      </p:sp>
      <p:sp>
        <p:nvSpPr>
          <p:cNvPr id="9" name="Text 7"/>
          <p:cNvSpPr/>
          <p:nvPr/>
        </p:nvSpPr>
        <p:spPr>
          <a:xfrm>
            <a:off x="429768" y="2103120"/>
            <a:ext cx="2468880" cy="1234440"/>
          </a:xfrm>
          <a:prstGeom prst="rect">
            <a:avLst/>
          </a:prstGeom>
          <a:noFill/>
          <a:ln/>
        </p:spPr>
        <p:txBody>
          <a:bodyPr wrap="square" lIns="0" tIns="0" rIns="0" bIns="0" rtlCol="0" anchor="ctr"/>
          <a:lstStyle/>
          <a:p>
            <a:pPr marL="0" indent="0" algn="ctr">
              <a:buNone/>
            </a:pPr>
            <a:r>
              <a:rPr lang="en-US" sz="4600" b="1" dirty="0">
                <a:solidFill>
                  <a:srgbClr val="1E293B"/>
                </a:solidFill>
                <a:latin typeface="Calibri" pitchFamily="34" charset="0"/>
                <a:cs typeface="Calibri" pitchFamily="34" charset="-120"/>
              </a:rPr>
              <a:t>13.18M</a:t>
            </a:r>
            <a:endParaRPr lang="en-US" sz="4600" dirty="0"/>
          </a:p>
        </p:txBody>
      </p:sp>
      <p:sp>
        <p:nvSpPr>
          <p:cNvPr id="10" name="Text 8"/>
          <p:cNvSpPr/>
          <p:nvPr/>
        </p:nvSpPr>
        <p:spPr>
          <a:xfrm>
            <a:off x="429768" y="3429000"/>
            <a:ext cx="2468880" cy="365760"/>
          </a:xfrm>
          <a:prstGeom prst="rect">
            <a:avLst/>
          </a:prstGeom>
          <a:noFill/>
          <a:ln/>
        </p:spPr>
        <p:txBody>
          <a:bodyPr wrap="square" lIns="0" tIns="0" rIns="0" bIns="0" rtlCol="0" anchor="ctr"/>
          <a:lstStyle/>
          <a:p>
            <a:pPr marL="0" indent="0" algn="ctr">
              <a:buNone/>
            </a:pPr>
            <a:endParaRPr lang="en-US" sz="1300" dirty="0"/>
          </a:p>
        </p:txBody>
      </p:sp>
      <p:sp>
        <p:nvSpPr>
          <p:cNvPr id="11" name="Text 9"/>
          <p:cNvSpPr/>
          <p:nvPr/>
        </p:nvSpPr>
        <p:spPr>
          <a:xfrm>
            <a:off x="457200" y="3931920"/>
            <a:ext cx="2423160" cy="64008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Light" pitchFamily="34" charset="0"/>
                <a:ea typeface="Calibri Light" pitchFamily="34" charset="-122"/>
                <a:cs typeface="Calibri Light" pitchFamily="34" charset="-120"/>
              </a:rPr>
              <a:t>Sum of all order revenue across the full dataset period</a:t>
            </a:r>
            <a:endParaRPr lang="en-US" sz="950" dirty="0"/>
          </a:p>
        </p:txBody>
      </p:sp>
      <p:sp>
        <p:nvSpPr>
          <p:cNvPr id="12" name="Shape 10"/>
          <p:cNvSpPr/>
          <p:nvPr/>
        </p:nvSpPr>
        <p:spPr>
          <a:xfrm>
            <a:off x="3246120" y="1325880"/>
            <a:ext cx="2697480" cy="3383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246120" y="1325880"/>
            <a:ext cx="2697480" cy="109728"/>
          </a:xfrm>
          <a:prstGeom prst="rect">
            <a:avLst/>
          </a:prstGeom>
          <a:solidFill>
            <a:srgbClr val="1E2761"/>
          </a:solidFill>
          <a:ln w="12700">
            <a:solidFill>
              <a:srgbClr val="1E2761"/>
            </a:solidFill>
            <a:prstDash val="solid"/>
          </a:ln>
        </p:spPr>
        <p:txBody>
          <a:bodyPr/>
          <a:lstStyle/>
          <a:p>
            <a:endParaRPr lang="en-US"/>
          </a:p>
        </p:txBody>
      </p:sp>
      <p:sp>
        <p:nvSpPr>
          <p:cNvPr id="14" name="Text 12"/>
          <p:cNvSpPr/>
          <p:nvPr/>
        </p:nvSpPr>
        <p:spPr>
          <a:xfrm>
            <a:off x="3355848" y="1581912"/>
            <a:ext cx="2468880" cy="411480"/>
          </a:xfrm>
          <a:prstGeom prst="rect">
            <a:avLst/>
          </a:prstGeom>
          <a:noFill/>
          <a:ln/>
        </p:spPr>
        <p:txBody>
          <a:bodyPr wrap="square" lIns="0" tIns="0" rIns="0" bIns="0" rtlCol="0" anchor="ctr"/>
          <a:lstStyle/>
          <a:p>
            <a:pPr marL="0" indent="0" algn="ctr">
              <a:buNone/>
            </a:pPr>
            <a:r>
              <a:rPr lang="en-US" sz="1000" b="1" kern="0" spc="200" dirty="0">
                <a:solidFill>
                  <a:srgbClr val="64748B"/>
                </a:solidFill>
                <a:latin typeface="Calibri" pitchFamily="34" charset="0"/>
                <a:ea typeface="Calibri" pitchFamily="34" charset="-122"/>
                <a:cs typeface="Calibri" pitchFamily="34" charset="-120"/>
              </a:rPr>
              <a:t>TOTAL ORDERS</a:t>
            </a:r>
            <a:endParaRPr lang="en-US" sz="1000" dirty="0"/>
          </a:p>
        </p:txBody>
      </p:sp>
      <p:sp>
        <p:nvSpPr>
          <p:cNvPr id="15" name="Text 13"/>
          <p:cNvSpPr/>
          <p:nvPr/>
        </p:nvSpPr>
        <p:spPr>
          <a:xfrm>
            <a:off x="3355848" y="2103120"/>
            <a:ext cx="2468880" cy="1234440"/>
          </a:xfrm>
          <a:prstGeom prst="rect">
            <a:avLst/>
          </a:prstGeom>
          <a:noFill/>
          <a:ln/>
        </p:spPr>
        <p:txBody>
          <a:bodyPr wrap="square" lIns="0" tIns="0" rIns="0" bIns="0" rtlCol="0" anchor="ctr"/>
          <a:lstStyle/>
          <a:p>
            <a:pPr marL="0" indent="0" algn="ctr">
              <a:buNone/>
            </a:pPr>
            <a:r>
              <a:rPr lang="en-US" sz="4600" b="1" dirty="0">
                <a:solidFill>
                  <a:srgbClr val="1E293B"/>
                </a:solidFill>
                <a:latin typeface="Calibri" pitchFamily="34" charset="0"/>
                <a:cs typeface="Calibri" pitchFamily="34" charset="-120"/>
              </a:rPr>
              <a:t>96K</a:t>
            </a:r>
            <a:endParaRPr lang="en-US" sz="4600" dirty="0"/>
          </a:p>
        </p:txBody>
      </p:sp>
      <p:sp>
        <p:nvSpPr>
          <p:cNvPr id="16" name="Text 14"/>
          <p:cNvSpPr/>
          <p:nvPr/>
        </p:nvSpPr>
        <p:spPr>
          <a:xfrm>
            <a:off x="3355848" y="3429000"/>
            <a:ext cx="2468880" cy="365760"/>
          </a:xfrm>
          <a:prstGeom prst="rect">
            <a:avLst/>
          </a:prstGeom>
          <a:noFill/>
          <a:ln/>
        </p:spPr>
        <p:txBody>
          <a:bodyPr wrap="square" lIns="0" tIns="0" rIns="0" bIns="0" rtlCol="0" anchor="ctr"/>
          <a:lstStyle/>
          <a:p>
            <a:pPr marL="0" indent="0" algn="ctr">
              <a:buNone/>
            </a:pPr>
            <a:endParaRPr lang="en-US" sz="1300" dirty="0"/>
          </a:p>
        </p:txBody>
      </p:sp>
      <p:sp>
        <p:nvSpPr>
          <p:cNvPr id="17" name="Text 15"/>
          <p:cNvSpPr/>
          <p:nvPr/>
        </p:nvSpPr>
        <p:spPr>
          <a:xfrm>
            <a:off x="3383280" y="3931920"/>
            <a:ext cx="2423160" cy="64008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Light" pitchFamily="34" charset="0"/>
                <a:ea typeface="Calibri Light" pitchFamily="34" charset="-122"/>
                <a:cs typeface="Calibri Light" pitchFamily="34" charset="-120"/>
              </a:rPr>
              <a:t>Count of distinct order IDs placed by customers</a:t>
            </a:r>
            <a:endParaRPr lang="en-US" sz="950" dirty="0"/>
          </a:p>
        </p:txBody>
      </p:sp>
      <p:sp>
        <p:nvSpPr>
          <p:cNvPr id="18" name="Shape 16"/>
          <p:cNvSpPr/>
          <p:nvPr/>
        </p:nvSpPr>
        <p:spPr>
          <a:xfrm>
            <a:off x="6172200" y="1325880"/>
            <a:ext cx="2697480" cy="33832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6172200" y="1325880"/>
            <a:ext cx="2697480" cy="109728"/>
          </a:xfrm>
          <a:prstGeom prst="rect">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6281928" y="1581912"/>
            <a:ext cx="2468880" cy="411480"/>
          </a:xfrm>
          <a:prstGeom prst="rect">
            <a:avLst/>
          </a:prstGeom>
          <a:noFill/>
          <a:ln/>
        </p:spPr>
        <p:txBody>
          <a:bodyPr wrap="square" lIns="0" tIns="0" rIns="0" bIns="0" rtlCol="0" anchor="ctr"/>
          <a:lstStyle/>
          <a:p>
            <a:pPr marL="0" indent="0" algn="ctr">
              <a:buNone/>
            </a:pPr>
            <a:r>
              <a:rPr lang="en-US" sz="1000" b="1" kern="0" spc="200" dirty="0">
                <a:solidFill>
                  <a:srgbClr val="64748B"/>
                </a:solidFill>
                <a:latin typeface="Calibri" pitchFamily="34" charset="0"/>
                <a:ea typeface="Calibri" pitchFamily="34" charset="-122"/>
                <a:cs typeface="Calibri" pitchFamily="34" charset="-120"/>
              </a:rPr>
              <a:t>AVG ORDER VALUE</a:t>
            </a:r>
            <a:endParaRPr lang="en-US" sz="1000" dirty="0"/>
          </a:p>
        </p:txBody>
      </p:sp>
      <p:sp>
        <p:nvSpPr>
          <p:cNvPr id="21" name="Text 19"/>
          <p:cNvSpPr/>
          <p:nvPr/>
        </p:nvSpPr>
        <p:spPr>
          <a:xfrm>
            <a:off x="6281928" y="2103120"/>
            <a:ext cx="2468880" cy="1234440"/>
          </a:xfrm>
          <a:prstGeom prst="rect">
            <a:avLst/>
          </a:prstGeom>
          <a:noFill/>
          <a:ln/>
        </p:spPr>
        <p:txBody>
          <a:bodyPr wrap="square" lIns="0" tIns="0" rIns="0" bIns="0" rtlCol="0" anchor="ctr"/>
          <a:lstStyle/>
          <a:p>
            <a:pPr marL="0" indent="0" algn="ctr">
              <a:buNone/>
            </a:pPr>
            <a:r>
              <a:rPr lang="en-US" sz="4600" b="1" dirty="0">
                <a:solidFill>
                  <a:srgbClr val="1E293B"/>
                </a:solidFill>
                <a:latin typeface="Calibri" pitchFamily="34" charset="0"/>
                <a:cs typeface="Calibri" pitchFamily="34" charset="-120"/>
              </a:rPr>
              <a:t>137.12</a:t>
            </a:r>
            <a:endParaRPr lang="en-US" sz="4600" dirty="0"/>
          </a:p>
        </p:txBody>
      </p:sp>
      <p:sp>
        <p:nvSpPr>
          <p:cNvPr id="22" name="Text 20"/>
          <p:cNvSpPr/>
          <p:nvPr/>
        </p:nvSpPr>
        <p:spPr>
          <a:xfrm>
            <a:off x="6281928" y="3429000"/>
            <a:ext cx="2468880" cy="365760"/>
          </a:xfrm>
          <a:prstGeom prst="rect">
            <a:avLst/>
          </a:prstGeom>
          <a:noFill/>
          <a:ln/>
        </p:spPr>
        <p:txBody>
          <a:bodyPr wrap="square" lIns="0" tIns="0" rIns="0" bIns="0" rtlCol="0" anchor="ctr"/>
          <a:lstStyle/>
          <a:p>
            <a:pPr marL="0" indent="0" algn="ctr">
              <a:buNone/>
            </a:pPr>
            <a:endParaRPr lang="en-US" sz="1300" dirty="0"/>
          </a:p>
        </p:txBody>
      </p:sp>
      <p:sp>
        <p:nvSpPr>
          <p:cNvPr id="23" name="Text 21"/>
          <p:cNvSpPr/>
          <p:nvPr/>
        </p:nvSpPr>
        <p:spPr>
          <a:xfrm>
            <a:off x="6309360" y="3931920"/>
            <a:ext cx="2423160" cy="64008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Light" pitchFamily="34" charset="0"/>
                <a:ea typeface="Calibri Light" pitchFamily="34" charset="-122"/>
                <a:cs typeface="Calibri Light" pitchFamily="34" charset="-120"/>
              </a:rPr>
              <a:t>Total Revenue ÷ Total Orders (AOV measure)</a:t>
            </a:r>
            <a:endParaRPr lang="en-US" sz="950" dirty="0"/>
          </a:p>
        </p:txBody>
      </p:sp>
      <p:sp>
        <p:nvSpPr>
          <p:cNvPr id="24" name="Shape 22"/>
          <p:cNvSpPr/>
          <p:nvPr/>
        </p:nvSpPr>
        <p:spPr>
          <a:xfrm>
            <a:off x="320040" y="4754880"/>
            <a:ext cx="8503920" cy="274320"/>
          </a:xfrm>
          <a:prstGeom prst="rect">
            <a:avLst/>
          </a:prstGeom>
          <a:solidFill>
            <a:srgbClr val="E8F0FE"/>
          </a:solidFill>
          <a:ln w="12700">
            <a:solidFill>
              <a:srgbClr val="CADCFC"/>
            </a:solidFill>
            <a:prstDash val="solid"/>
          </a:ln>
        </p:spPr>
        <p:txBody>
          <a:bodyPr/>
          <a:lstStyle/>
          <a:p>
            <a:endParaRPr lang="en-US"/>
          </a:p>
        </p:txBody>
      </p:sp>
      <p:sp>
        <p:nvSpPr>
          <p:cNvPr id="25" name="Text 23"/>
          <p:cNvSpPr/>
          <p:nvPr/>
        </p:nvSpPr>
        <p:spPr>
          <a:xfrm>
            <a:off x="320040" y="4754880"/>
            <a:ext cx="8503920" cy="274320"/>
          </a:xfrm>
          <a:prstGeom prst="rect">
            <a:avLst/>
          </a:prstGeom>
          <a:noFill/>
          <a:ln/>
        </p:spPr>
        <p:txBody>
          <a:bodyPr wrap="square" lIns="0" tIns="0" rIns="0" bIns="0" rtlCol="0" anchor="ctr"/>
          <a:lstStyle/>
          <a:p>
            <a:pPr marL="0" indent="0" algn="ctr">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960120"/>
            <a:ext cx="9144000" cy="4572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MONTHLY REVENUE TREND</a:t>
            </a:r>
            <a:endParaRPr lang="en-US" sz="2600" dirty="0"/>
          </a:p>
        </p:txBody>
      </p:sp>
      <p:sp>
        <p:nvSpPr>
          <p:cNvPr id="5" name="Shape 3"/>
          <p:cNvSpPr/>
          <p:nvPr/>
        </p:nvSpPr>
        <p:spPr>
          <a:xfrm>
            <a:off x="365760" y="1143000"/>
            <a:ext cx="5577840" cy="35661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65760" y="1417320"/>
            <a:ext cx="5577840" cy="457200"/>
          </a:xfrm>
          <a:prstGeom prst="rect">
            <a:avLst/>
          </a:prstGeom>
          <a:noFill/>
          <a:ln/>
        </p:spPr>
        <p:txBody>
          <a:bodyPr wrap="square" lIns="0" tIns="0" rIns="0" bIns="0" rtlCol="0" anchor="ctr"/>
          <a:lstStyle/>
          <a:p>
            <a:pPr marL="0" indent="0" algn="ctr">
              <a:buNone/>
            </a:pPr>
            <a:r>
              <a:rPr lang="en-US" sz="1300" b="1" dirty="0">
                <a:solidFill>
                  <a:srgbClr val="0D9488"/>
                </a:solidFill>
                <a:latin typeface="Calibri" pitchFamily="34" charset="0"/>
                <a:ea typeface="Calibri" pitchFamily="34" charset="-122"/>
                <a:cs typeface="Calibri" pitchFamily="34" charset="-120"/>
              </a:rPr>
              <a:t>📈  LINE CHART</a:t>
            </a:r>
            <a:endParaRPr lang="en-US" sz="1300" dirty="0"/>
          </a:p>
        </p:txBody>
      </p:sp>
      <p:sp>
        <p:nvSpPr>
          <p:cNvPr id="7" name="Text 5"/>
          <p:cNvSpPr/>
          <p:nvPr/>
        </p:nvSpPr>
        <p:spPr>
          <a:xfrm>
            <a:off x="548640" y="1965960"/>
            <a:ext cx="5212080" cy="7315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Light" pitchFamily="34" charset="0"/>
                <a:ea typeface="Calibri Light" pitchFamily="34" charset="-122"/>
                <a:cs typeface="Calibri Light" pitchFamily="34" charset="-120"/>
              </a:rPr>
              <a:t>Monthly Revenue by month_name (from dim_date)</a:t>
            </a:r>
            <a:endParaRPr lang="en-US" sz="1050" dirty="0"/>
          </a:p>
          <a:p>
            <a:pPr marL="0" indent="0" algn="ctr">
              <a:buNone/>
            </a:pPr>
            <a:r>
              <a:rPr lang="en-US" sz="1050" i="1" dirty="0">
                <a:solidFill>
                  <a:srgbClr val="64748B"/>
                </a:solidFill>
                <a:latin typeface="Calibri Light" pitchFamily="34" charset="0"/>
                <a:ea typeface="Calibri Light" pitchFamily="34" charset="-122"/>
                <a:cs typeface="Calibri Light" pitchFamily="34" charset="-120"/>
              </a:rPr>
              <a:t>× Total Revenue (from fact_orders)</a:t>
            </a:r>
            <a:endParaRPr lang="en-US" sz="1050" dirty="0"/>
          </a:p>
        </p:txBody>
      </p:sp>
      <p:sp>
        <p:nvSpPr>
          <p:cNvPr id="8" name="Shape 6"/>
          <p:cNvSpPr/>
          <p:nvPr/>
        </p:nvSpPr>
        <p:spPr>
          <a:xfrm>
            <a:off x="594360" y="2834640"/>
            <a:ext cx="5120640" cy="36576"/>
          </a:xfrm>
          <a:prstGeom prst="rect">
            <a:avLst/>
          </a:prstGeom>
          <a:solidFill>
            <a:srgbClr val="CBD5E1"/>
          </a:solidFill>
          <a:ln w="12700">
            <a:solidFill>
              <a:srgbClr val="CBD5E1"/>
            </a:solidFill>
            <a:prstDash val="solid"/>
          </a:ln>
        </p:spPr>
        <p:txBody>
          <a:bodyPr/>
          <a:lstStyle/>
          <a:p>
            <a:endParaRPr lang="en-US"/>
          </a:p>
        </p:txBody>
      </p:sp>
      <p:sp>
        <p:nvSpPr>
          <p:cNvPr id="9" name="Text 7"/>
          <p:cNvSpPr/>
          <p:nvPr/>
        </p:nvSpPr>
        <p:spPr>
          <a:xfrm>
            <a:off x="594360" y="2926080"/>
            <a:ext cx="5120640" cy="32004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Jan  Feb  Mar  Apr  May  Jun  Jul  Aug  Sep  Oct  Nov  Dec</a:t>
            </a:r>
            <a:endParaRPr lang="en-US" sz="800" dirty="0"/>
          </a:p>
        </p:txBody>
      </p:sp>
      <p:sp>
        <p:nvSpPr>
          <p:cNvPr id="10" name="Text 8"/>
          <p:cNvSpPr/>
          <p:nvPr/>
        </p:nvSpPr>
        <p:spPr>
          <a:xfrm>
            <a:off x="594360" y="3337560"/>
            <a:ext cx="5120640" cy="1188720"/>
          </a:xfrm>
          <a:prstGeom prst="rect">
            <a:avLst/>
          </a:prstGeom>
          <a:noFill/>
          <a:ln/>
        </p:spPr>
        <p:txBody>
          <a:bodyPr wrap="square" lIns="0" tIns="0" rIns="0" bIns="0" rtlCol="0" anchor="ctr"/>
          <a:lstStyle/>
          <a:p>
            <a:pPr marL="0" indent="0" algn="ctr">
              <a:buNone/>
            </a:pPr>
            <a:endParaRPr lang="en-US" sz="1000" dirty="0"/>
          </a:p>
        </p:txBody>
      </p:sp>
      <p:sp>
        <p:nvSpPr>
          <p:cNvPr id="11" name="Shape 9"/>
          <p:cNvSpPr/>
          <p:nvPr/>
        </p:nvSpPr>
        <p:spPr>
          <a:xfrm>
            <a:off x="6126480" y="1148253"/>
            <a:ext cx="2743200" cy="3566160"/>
          </a:xfrm>
          <a:prstGeom prst="rect">
            <a:avLst/>
          </a:prstGeom>
          <a:solidFill>
            <a:srgbClr val="1E2761"/>
          </a:solidFill>
          <a:ln w="12700">
            <a:solidFill>
              <a:srgbClr val="1E2761"/>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6263640" y="1280160"/>
            <a:ext cx="2468880" cy="411480"/>
          </a:xfrm>
          <a:prstGeom prst="rect">
            <a:avLst/>
          </a:prstGeom>
          <a:noFill/>
          <a:ln/>
        </p:spPr>
        <p:txBody>
          <a:bodyPr wrap="square" lIns="0" tIns="0" rIns="0" bIns="0" rtlCol="0" anchor="ctr"/>
          <a:lstStyle/>
          <a:p>
            <a:pPr marL="0" indent="0" algn="ctr">
              <a:buNone/>
            </a:pPr>
            <a:r>
              <a:rPr lang="en-US" sz="1000" b="1" kern="0" spc="200" dirty="0">
                <a:solidFill>
                  <a:srgbClr val="0D9488"/>
                </a:solidFill>
                <a:latin typeface="Calibri" pitchFamily="34" charset="0"/>
                <a:cs typeface="Calibri" pitchFamily="34" charset="-120"/>
              </a:rPr>
              <a:t>Revenue Trend</a:t>
            </a:r>
            <a:endParaRPr lang="en-US" sz="1000" dirty="0"/>
          </a:p>
        </p:txBody>
      </p:sp>
      <p:sp>
        <p:nvSpPr>
          <p:cNvPr id="13" name="Shape 11"/>
          <p:cNvSpPr/>
          <p:nvPr/>
        </p:nvSpPr>
        <p:spPr>
          <a:xfrm>
            <a:off x="6263640" y="1828800"/>
            <a:ext cx="54864" cy="41148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6400800" y="1828800"/>
            <a:ext cx="2331720" cy="201168"/>
          </a:xfrm>
          <a:prstGeom prst="rect">
            <a:avLst/>
          </a:prstGeom>
          <a:noFill/>
          <a:ln/>
        </p:spPr>
        <p:txBody>
          <a:bodyPr wrap="square" lIns="0" tIns="0" rIns="0" bIns="0"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Peak Month</a:t>
            </a:r>
            <a:endParaRPr lang="en-US" sz="1000" dirty="0"/>
          </a:p>
        </p:txBody>
      </p:sp>
      <p:sp>
        <p:nvSpPr>
          <p:cNvPr id="15" name="Text 13"/>
          <p:cNvSpPr/>
          <p:nvPr/>
        </p:nvSpPr>
        <p:spPr>
          <a:xfrm>
            <a:off x="6400800" y="2029968"/>
            <a:ext cx="2331720" cy="228600"/>
          </a:xfrm>
          <a:prstGeom prst="rect">
            <a:avLst/>
          </a:prstGeom>
          <a:noFill/>
          <a:ln/>
        </p:spPr>
        <p:txBody>
          <a:bodyPr wrap="square" lIns="0" tIns="0" rIns="0" bIns="0" rtlCol="0" anchor="ctr"/>
          <a:lstStyle/>
          <a:p>
            <a:pPr marL="0" indent="0">
              <a:buNone/>
            </a:pPr>
            <a:r>
              <a:rPr lang="en-US" sz="900" dirty="0">
                <a:solidFill>
                  <a:srgbClr val="CADCFC"/>
                </a:solidFill>
                <a:latin typeface="Calibri Light" pitchFamily="34" charset="0"/>
                <a:ea typeface="Calibri Light" pitchFamily="34" charset="-122"/>
                <a:cs typeface="Calibri Light" pitchFamily="34" charset="-120"/>
              </a:rPr>
              <a:t> May</a:t>
            </a:r>
            <a:endParaRPr lang="en-US" sz="900" dirty="0"/>
          </a:p>
        </p:txBody>
      </p:sp>
      <p:sp>
        <p:nvSpPr>
          <p:cNvPr id="16" name="Shape 14"/>
          <p:cNvSpPr/>
          <p:nvPr/>
        </p:nvSpPr>
        <p:spPr>
          <a:xfrm>
            <a:off x="6263640" y="2514600"/>
            <a:ext cx="54864" cy="411480"/>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6400800" y="2514600"/>
            <a:ext cx="2331720" cy="201168"/>
          </a:xfrm>
          <a:prstGeom prst="rect">
            <a:avLst/>
          </a:prstGeom>
          <a:noFill/>
          <a:ln/>
        </p:spPr>
        <p:txBody>
          <a:bodyPr wrap="square" lIns="0" tIns="0" rIns="0" bIns="0"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Lowest Month</a:t>
            </a:r>
            <a:endParaRPr lang="en-US" sz="1000" dirty="0"/>
          </a:p>
        </p:txBody>
      </p:sp>
      <p:sp>
        <p:nvSpPr>
          <p:cNvPr id="18" name="Text 16"/>
          <p:cNvSpPr/>
          <p:nvPr/>
        </p:nvSpPr>
        <p:spPr>
          <a:xfrm>
            <a:off x="6400800" y="2715768"/>
            <a:ext cx="2331720" cy="228600"/>
          </a:xfrm>
          <a:prstGeom prst="rect">
            <a:avLst/>
          </a:prstGeom>
          <a:noFill/>
          <a:ln/>
        </p:spPr>
        <p:txBody>
          <a:bodyPr wrap="square" lIns="0" tIns="0" rIns="0" bIns="0" rtlCol="0" anchor="ctr"/>
          <a:lstStyle/>
          <a:p>
            <a:pPr marL="0" indent="0">
              <a:buNone/>
            </a:pPr>
            <a:r>
              <a:rPr lang="en-US" sz="900" dirty="0">
                <a:solidFill>
                  <a:srgbClr val="CADCFC"/>
                </a:solidFill>
                <a:latin typeface="Calibri Light" pitchFamily="34" charset="0"/>
                <a:cs typeface="Calibri Light" pitchFamily="34" charset="-120"/>
              </a:rPr>
              <a:t>September</a:t>
            </a:r>
            <a:endParaRPr lang="en-US" sz="900" dirty="0"/>
          </a:p>
        </p:txBody>
      </p:sp>
      <p:sp>
        <p:nvSpPr>
          <p:cNvPr id="19" name="Shape 17"/>
          <p:cNvSpPr/>
          <p:nvPr/>
        </p:nvSpPr>
        <p:spPr>
          <a:xfrm>
            <a:off x="6263640" y="3200400"/>
            <a:ext cx="54864" cy="411480"/>
          </a:xfrm>
          <a:prstGeom prst="rect">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6400800" y="3200400"/>
            <a:ext cx="2331720" cy="201168"/>
          </a:xfrm>
          <a:prstGeom prst="rect">
            <a:avLst/>
          </a:prstGeom>
          <a:noFill/>
          <a:ln/>
        </p:spPr>
        <p:txBody>
          <a:bodyPr wrap="square" lIns="0" tIns="0" rIns="0" bIns="0"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Growth Shape</a:t>
            </a:r>
            <a:endParaRPr lang="en-US" sz="1000" dirty="0"/>
          </a:p>
        </p:txBody>
      </p:sp>
      <p:sp>
        <p:nvSpPr>
          <p:cNvPr id="21" name="Text 19"/>
          <p:cNvSpPr/>
          <p:nvPr/>
        </p:nvSpPr>
        <p:spPr>
          <a:xfrm>
            <a:off x="6400800" y="3401568"/>
            <a:ext cx="2331720" cy="228600"/>
          </a:xfrm>
          <a:prstGeom prst="rect">
            <a:avLst/>
          </a:prstGeom>
          <a:noFill/>
          <a:ln/>
        </p:spPr>
        <p:txBody>
          <a:bodyPr wrap="square" lIns="0" tIns="0" rIns="0" bIns="0" rtlCol="0" anchor="ctr"/>
          <a:lstStyle/>
          <a:p>
            <a:r>
              <a:rPr lang="en-US" sz="900" dirty="0">
                <a:solidFill>
                  <a:schemeClr val="bg1">
                    <a:lumMod val="85000"/>
                  </a:schemeClr>
                </a:solidFill>
              </a:rPr>
              <a:t>seasonal pattern with sharp rises and drops</a:t>
            </a:r>
          </a:p>
        </p:txBody>
      </p:sp>
      <p:sp>
        <p:nvSpPr>
          <p:cNvPr id="22" name="Shape 20"/>
          <p:cNvSpPr/>
          <p:nvPr/>
        </p:nvSpPr>
        <p:spPr>
          <a:xfrm>
            <a:off x="6263640" y="3886200"/>
            <a:ext cx="54864" cy="411480"/>
          </a:xfrm>
          <a:prstGeom prst="rect">
            <a:avLst/>
          </a:prstGeom>
          <a:solidFill>
            <a:srgbClr val="F59E0B"/>
          </a:solidFill>
          <a:ln w="12700">
            <a:solidFill>
              <a:srgbClr val="F59E0B"/>
            </a:solidFill>
            <a:prstDash val="solid"/>
          </a:ln>
        </p:spPr>
        <p:txBody>
          <a:bodyPr/>
          <a:lstStyle/>
          <a:p>
            <a:endParaRPr lang="en-US"/>
          </a:p>
        </p:txBody>
      </p:sp>
      <p:sp>
        <p:nvSpPr>
          <p:cNvPr id="23" name="Text 21"/>
          <p:cNvSpPr/>
          <p:nvPr/>
        </p:nvSpPr>
        <p:spPr>
          <a:xfrm>
            <a:off x="6400800" y="3886200"/>
            <a:ext cx="2331720" cy="201168"/>
          </a:xfrm>
          <a:prstGeom prst="rect">
            <a:avLst/>
          </a:prstGeom>
          <a:noFill/>
          <a:ln/>
        </p:spPr>
        <p:txBody>
          <a:bodyPr wrap="square" lIns="0" tIns="0" rIns="0" bIns="0"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Order vs Revenue</a:t>
            </a:r>
            <a:endParaRPr lang="en-US" sz="1000" dirty="0"/>
          </a:p>
        </p:txBody>
      </p:sp>
      <p:sp>
        <p:nvSpPr>
          <p:cNvPr id="24" name="Text 22"/>
          <p:cNvSpPr/>
          <p:nvPr/>
        </p:nvSpPr>
        <p:spPr>
          <a:xfrm>
            <a:off x="6400800" y="4087368"/>
            <a:ext cx="2331720" cy="228600"/>
          </a:xfrm>
          <a:prstGeom prst="rect">
            <a:avLst/>
          </a:prstGeom>
          <a:noFill/>
          <a:ln/>
        </p:spPr>
        <p:txBody>
          <a:bodyPr wrap="square" lIns="0" tIns="0" rIns="0" bIns="0" rtlCol="0" anchor="ctr"/>
          <a:lstStyle/>
          <a:p>
            <a:r>
              <a:rPr lang="en-US" sz="900" dirty="0">
                <a:solidFill>
                  <a:schemeClr val="bg1">
                    <a:lumMod val="85000"/>
                  </a:schemeClr>
                </a:solidFill>
              </a:rPr>
              <a:t>No clear alignment between order and revenue trends</a:t>
            </a:r>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497" y="2944368"/>
            <a:ext cx="4630366" cy="16548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HdrBg"/>
          <p:cNvSpPr/>
          <p:nvPr/>
        </p:nvSpPr>
        <p:spPr>
          <a:xfrm>
            <a:off x="0" y="0"/>
            <a:ext cx="9144000" cy="960120"/>
          </a:xfrm>
          <a:prstGeom prst="rect">
            <a:avLst/>
          </a:prstGeom>
          <a:solidFill>
            <a:srgbClr val="1E2761"/>
          </a:solidFill>
        </p:spPr>
        <p:txBody>
          <a:bodyPr/>
          <a:lstStyle/>
          <a:p>
            <a:endParaRPr lang="en-US"/>
          </a:p>
        </p:txBody>
      </p:sp>
      <p:sp>
        <p:nvSpPr>
          <p:cNvPr id="3" name="HdrLine"/>
          <p:cNvSpPr/>
          <p:nvPr/>
        </p:nvSpPr>
        <p:spPr>
          <a:xfrm>
            <a:off x="0" y="960120"/>
            <a:ext cx="9144000" cy="45720"/>
          </a:xfrm>
          <a:prstGeom prst="rect">
            <a:avLst/>
          </a:prstGeom>
          <a:solidFill>
            <a:srgbClr val="0D9488"/>
          </a:solidFill>
        </p:spPr>
        <p:txBody>
          <a:bodyPr/>
          <a:lstStyle/>
          <a:p>
            <a:endParaRPr lang="en-US"/>
          </a:p>
        </p:txBody>
      </p:sp>
      <p:sp>
        <p:nvSpPr>
          <p:cNvPr id="4" name="Title"/>
          <p:cNvSpPr/>
          <p:nvPr/>
        </p:nvSpPr>
        <p:spPr>
          <a:xfrm>
            <a:off x="457200" y="0"/>
            <a:ext cx="8229600" cy="960120"/>
          </a:xfrm>
          <a:prstGeom prst="rect">
            <a:avLst/>
          </a:prstGeom>
          <a:noFill/>
          <a:ln/>
        </p:spPr>
        <p:txBody>
          <a:bodyPr wrap="square" lIns="0" tIns="0" rIns="0" bIns="0" rtlCol="0" anchor="ctr"/>
          <a:lstStyle/>
          <a:p>
            <a:pPr marL="0" indent="0">
              <a:buNone/>
            </a:pPr>
            <a:r>
              <a:rPr lang="en-US" sz="2800" b="1" dirty="0">
                <a:solidFill>
                  <a:srgbClr val="FFFFFF"/>
                </a:solidFill>
                <a:latin typeface="Calibri"/>
              </a:rPr>
              <a:t>Product Performance Overview</a:t>
            </a:r>
          </a:p>
        </p:txBody>
      </p:sp>
      <p:pic>
        <p:nvPicPr>
          <p:cNvPr id="5" name="ImgCharts"/>
          <p:cNvPicPr/>
          <p:nvPr/>
        </p:nvPicPr>
        <p:blipFill>
          <a:blip r:embed="rId2"/>
          <a:stretch>
            <a:fillRect/>
          </a:stretch>
        </p:blipFill>
        <p:spPr>
          <a:xfrm>
            <a:off x="274638" y="1060000"/>
            <a:ext cx="8594724" cy="2850000"/>
          </a:xfrm>
          <a:prstGeom prst="rect">
            <a:avLst/>
          </a:prstGeom>
        </p:spPr>
      </p:pic>
      <p:sp>
        <p:nvSpPr>
          <p:cNvPr id="9" name="Bullets"/>
          <p:cNvSpPr/>
          <p:nvPr/>
        </p:nvSpPr>
        <p:spPr>
          <a:xfrm>
            <a:off x="457200" y="4040000"/>
            <a:ext cx="8229600" cy="850000"/>
          </a:xfrm>
          <a:prstGeom prst="rect">
            <a:avLst/>
          </a:prstGeom>
          <a:noFill/>
          <a:ln/>
        </p:spPr>
        <p:txBody>
          <a:bodyPr wrap="square" lIns="91440" tIns="45720" rIns="91440" bIns="45720" rtlCol="0" anchor="t"/>
          <a:lstStyle/>
          <a:p>
            <a:pPr marL="342900" indent="-342900">
              <a:buChar char="●"/>
            </a:pPr>
            <a:r>
              <a:rPr lang="en-US" sz="1600" b="0" dirty="0">
                <a:solidFill>
                  <a:srgbClr val="1E2761"/>
                </a:solidFill>
                <a:latin typeface="Calibri"/>
              </a:rPr>
              <a:t>Top category: </a:t>
            </a:r>
            <a:r>
              <a:rPr lang="en-US" sz="1600" b="0" dirty="0" smtClean="0">
                <a:solidFill>
                  <a:srgbClr val="1E2761"/>
                </a:solidFill>
                <a:latin typeface="Calibri"/>
              </a:rPr>
              <a:t>Beauty and Health</a:t>
            </a:r>
            <a:endParaRPr lang="en-US" sz="1600" b="0" dirty="0">
              <a:solidFill>
                <a:srgbClr val="1E2761"/>
              </a:solidFill>
              <a:latin typeface="Calibri"/>
            </a:endParaRPr>
          </a:p>
          <a:p>
            <a:pPr marL="342900" indent="-342900">
              <a:buChar char="●"/>
            </a:pPr>
            <a:r>
              <a:rPr lang="en-US" sz="1600" b="0" dirty="0">
                <a:solidFill>
                  <a:srgbClr val="1E2761"/>
                </a:solidFill>
                <a:latin typeface="Calibri"/>
              </a:rPr>
              <a:t>Revenue concentrated in top categories</a:t>
            </a:r>
          </a:p>
          <a:p>
            <a:pPr marL="342900" indent="-342900">
              <a:buChar char="●"/>
            </a:pPr>
            <a:r>
              <a:rPr lang="en-US" sz="1600" b="0" dirty="0">
                <a:solidFill>
                  <a:srgbClr val="1E2761"/>
                </a:solidFill>
                <a:latin typeface="Calibri"/>
              </a:rPr>
              <a:t>A small number of products generate a large share of revenue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HdrBg"/>
          <p:cNvSpPr/>
          <p:nvPr/>
        </p:nvSpPr>
        <p:spPr>
          <a:xfrm>
            <a:off x="0" y="0"/>
            <a:ext cx="9144000" cy="960120"/>
          </a:xfrm>
          <a:prstGeom prst="rect">
            <a:avLst/>
          </a:prstGeom>
          <a:solidFill>
            <a:srgbClr val="1E2761"/>
          </a:solidFill>
        </p:spPr>
        <p:txBody>
          <a:bodyPr/>
          <a:lstStyle/>
          <a:p>
            <a:endParaRPr lang="en-US"/>
          </a:p>
        </p:txBody>
      </p:sp>
      <p:sp>
        <p:nvSpPr>
          <p:cNvPr id="3" name="HdrLine"/>
          <p:cNvSpPr/>
          <p:nvPr/>
        </p:nvSpPr>
        <p:spPr>
          <a:xfrm>
            <a:off x="0" y="960120"/>
            <a:ext cx="9144000" cy="45720"/>
          </a:xfrm>
          <a:prstGeom prst="rect">
            <a:avLst/>
          </a:prstGeom>
          <a:solidFill>
            <a:srgbClr val="0D9488"/>
          </a:solidFill>
        </p:spPr>
        <p:txBody>
          <a:bodyPr/>
          <a:lstStyle/>
          <a:p>
            <a:endParaRPr lang="en-US"/>
          </a:p>
        </p:txBody>
      </p:sp>
      <p:sp>
        <p:nvSpPr>
          <p:cNvPr id="4" name="Title"/>
          <p:cNvSpPr/>
          <p:nvPr/>
        </p:nvSpPr>
        <p:spPr>
          <a:xfrm>
            <a:off x="457200" y="0"/>
            <a:ext cx="8229600" cy="960120"/>
          </a:xfrm>
          <a:prstGeom prst="rect">
            <a:avLst/>
          </a:prstGeom>
          <a:noFill/>
          <a:ln/>
        </p:spPr>
        <p:txBody>
          <a:bodyPr wrap="square" lIns="0" tIns="0" rIns="0" bIns="0" rtlCol="0" anchor="ctr"/>
          <a:lstStyle/>
          <a:p>
            <a:pPr marL="0" indent="0">
              <a:buNone/>
            </a:pPr>
            <a:r>
              <a:rPr lang="en-US" sz="2800" b="1" dirty="0">
                <a:solidFill>
                  <a:srgbClr val="FFFFFF"/>
                </a:solidFill>
                <a:latin typeface="Calibri"/>
              </a:rPr>
              <a:t>Regional Performance Overview</a:t>
            </a:r>
          </a:p>
        </p:txBody>
      </p:sp>
      <p:pic>
        <p:nvPicPr>
          <p:cNvPr id="5" name="ImgCities"/>
          <p:cNvPicPr/>
          <p:nvPr/>
        </p:nvPicPr>
        <p:blipFill>
          <a:blip r:embed="rId2"/>
          <a:stretch>
            <a:fillRect/>
          </a:stretch>
        </p:blipFill>
        <p:spPr>
          <a:xfrm>
            <a:off x="274638" y="1060000"/>
            <a:ext cx="5400000" cy="2850000"/>
          </a:xfrm>
          <a:prstGeom prst="rect">
            <a:avLst/>
          </a:prstGeom>
        </p:spPr>
      </p:pic>
      <p:pic>
        <p:nvPicPr>
          <p:cNvPr id="6" name="ImgMap"/>
          <p:cNvPicPr/>
          <p:nvPr/>
        </p:nvPicPr>
        <p:blipFill>
          <a:blip r:embed="rId3"/>
          <a:stretch>
            <a:fillRect/>
          </a:stretch>
        </p:blipFill>
        <p:spPr>
          <a:xfrm>
            <a:off x="5850000" y="1060000"/>
            <a:ext cx="3050000" cy="1350000"/>
          </a:xfrm>
          <a:prstGeom prst="rect">
            <a:avLst/>
          </a:prstGeom>
        </p:spPr>
      </p:pic>
      <p:sp>
        <p:nvSpPr>
          <p:cNvPr id="9" name="Bullets"/>
          <p:cNvSpPr/>
          <p:nvPr/>
        </p:nvSpPr>
        <p:spPr>
          <a:xfrm>
            <a:off x="5850000" y="2350000"/>
            <a:ext cx="3050000" cy="1600000"/>
          </a:xfrm>
          <a:prstGeom prst="rect">
            <a:avLst/>
          </a:prstGeom>
          <a:noFill/>
          <a:ln>
            <a:noFill/>
          </a:ln>
        </p:spPr>
        <p:txBody>
          <a:bodyPr wrap="square" lIns="91440" tIns="45720" rIns="91440" bIns="45720" rtlCol="0" anchor="t"/>
          <a:lstStyle/>
          <a:p>
            <a:pPr marL="342900" indent="-342900">
              <a:buChar char="●"/>
            </a:pPr>
            <a:r>
              <a:rPr lang="en-US" sz="1100" b="0" dirty="0">
                <a:solidFill>
                  <a:srgbClr val="1E2761"/>
                </a:solidFill>
                <a:latin typeface="Calibri"/>
              </a:rPr>
              <a:t>Sao Paulo is the top-performing city</a:t>
            </a:r>
          </a:p>
          <a:p>
            <a:pPr marL="342900" indent="-342900">
              <a:buChar char="●"/>
            </a:pPr>
            <a:r>
              <a:rPr lang="en-US" sz="1100" b="0" dirty="0">
                <a:solidFill>
                  <a:srgbClr val="1E2761"/>
                </a:solidFill>
                <a:latin typeface="Calibri"/>
              </a:rPr>
              <a:t>Large gap between Sao Paulo and other cities</a:t>
            </a:r>
          </a:p>
          <a:p>
            <a:pPr marL="342900" indent="-342900">
              <a:buChar char="●"/>
            </a:pPr>
            <a:r>
              <a:rPr lang="en-US" sz="1100" b="0" dirty="0">
                <a:solidFill>
                  <a:srgbClr val="1E2761"/>
                </a:solidFill>
                <a:latin typeface="Calibri"/>
              </a:rPr>
              <a:t>Revenue unevenly distributed across regions</a:t>
            </a:r>
          </a:p>
          <a:p>
            <a:pPr marL="342900" indent="-342900">
              <a:buChar char="●"/>
            </a:pPr>
            <a:r>
              <a:rPr lang="en-US" sz="1100" b="0" dirty="0">
                <a:solidFill>
                  <a:srgbClr val="1E2761"/>
                </a:solidFill>
                <a:latin typeface="Calibri"/>
              </a:rPr>
              <a:t>Revenue is heavily concentrated in Sao Paulo (1.85M), nearly double Rio de Janeiro (0.95M)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Bg">
            <a:extLst>
              <a:ext uri="{FF2B5EF4-FFF2-40B4-BE49-F238E27FC236}">
                <a16:creationId xmlns:a16="http://schemas.microsoft.com/office/drawing/2014/main" xmlns="" id="{AC74769B-B50B-34C1-7BFB-0F1DF58C1CDA}"/>
              </a:ext>
            </a:extLst>
          </p:cNvPr>
          <p:cNvSpPr/>
          <p:nvPr/>
        </p:nvSpPr>
        <p:spPr>
          <a:xfrm>
            <a:off x="0" y="0"/>
            <a:ext cx="9144000" cy="960120"/>
          </a:xfrm>
          <a:prstGeom prst="rect">
            <a:avLst/>
          </a:prstGeom>
          <a:solidFill>
            <a:srgbClr val="1E2761"/>
          </a:solidFill>
        </p:spPr>
        <p:txBody>
          <a:bodyPr/>
          <a:lstStyle/>
          <a:p>
            <a:pPr marL="0" indent="0">
              <a:buNone/>
            </a:pPr>
            <a:endParaRPr lang="en-US" sz="2600" b="1" dirty="0">
              <a:solidFill>
                <a:schemeClr val="bg1"/>
              </a:solidFill>
              <a:latin typeface="Calibri"/>
            </a:endParaRPr>
          </a:p>
        </p:txBody>
      </p:sp>
      <p:sp>
        <p:nvSpPr>
          <p:cNvPr id="3" name="Shape 1">
            <a:extLst>
              <a:ext uri="{FF2B5EF4-FFF2-40B4-BE49-F238E27FC236}">
                <a16:creationId xmlns:a16="http://schemas.microsoft.com/office/drawing/2014/main" xmlns="" id="{25F6B7AC-060C-42C2-366E-053CA58EAB22}"/>
              </a:ext>
            </a:extLst>
          </p:cNvPr>
          <p:cNvSpPr/>
          <p:nvPr/>
        </p:nvSpPr>
        <p:spPr>
          <a:xfrm>
            <a:off x="0" y="960120"/>
            <a:ext cx="9144000" cy="45720"/>
          </a:xfrm>
          <a:prstGeom prst="rect">
            <a:avLst/>
          </a:prstGeom>
          <a:solidFill>
            <a:srgbClr val="F59E0B"/>
          </a:solidFill>
          <a:ln w="12700">
            <a:solidFill>
              <a:srgbClr val="F59E0B"/>
            </a:solidFill>
            <a:prstDash val="solid"/>
          </a:ln>
        </p:spPr>
        <p:txBody>
          <a:bodyPr/>
          <a:lstStyle/>
          <a:p>
            <a:endParaRPr lang="en-US"/>
          </a:p>
        </p:txBody>
      </p:sp>
      <p:pic>
        <p:nvPicPr>
          <p:cNvPr id="5" name="Picture 4">
            <a:extLst>
              <a:ext uri="{FF2B5EF4-FFF2-40B4-BE49-F238E27FC236}">
                <a16:creationId xmlns:a16="http://schemas.microsoft.com/office/drawing/2014/main" xmlns="" id="{13B031B1-CE48-49C2-2831-C80F5E204B17}"/>
              </a:ext>
            </a:extLst>
          </p:cNvPr>
          <p:cNvPicPr>
            <a:picLocks noChangeAspect="1"/>
          </p:cNvPicPr>
          <p:nvPr/>
        </p:nvPicPr>
        <p:blipFill>
          <a:blip r:embed="rId2"/>
          <a:stretch>
            <a:fillRect/>
          </a:stretch>
        </p:blipFill>
        <p:spPr>
          <a:xfrm>
            <a:off x="-1" y="1065848"/>
            <a:ext cx="4798819" cy="2659485"/>
          </a:xfrm>
          <a:prstGeom prst="rect">
            <a:avLst/>
          </a:prstGeom>
        </p:spPr>
      </p:pic>
      <p:sp>
        <p:nvSpPr>
          <p:cNvPr id="7" name="TextBox 6">
            <a:extLst>
              <a:ext uri="{FF2B5EF4-FFF2-40B4-BE49-F238E27FC236}">
                <a16:creationId xmlns:a16="http://schemas.microsoft.com/office/drawing/2014/main" xmlns="" id="{28811A20-5731-D024-CA43-C9F25BF2B975}"/>
              </a:ext>
            </a:extLst>
          </p:cNvPr>
          <p:cNvSpPr txBox="1"/>
          <p:nvPr/>
        </p:nvSpPr>
        <p:spPr>
          <a:xfrm>
            <a:off x="237067" y="216747"/>
            <a:ext cx="4746412" cy="892552"/>
          </a:xfrm>
          <a:prstGeom prst="rect">
            <a:avLst/>
          </a:prstGeom>
          <a:noFill/>
        </p:spPr>
        <p:txBody>
          <a:bodyPr wrap="square">
            <a:spAutoFit/>
          </a:bodyPr>
          <a:lstStyle/>
          <a:p>
            <a:r>
              <a:rPr lang="en-US" sz="2600" b="1" dirty="0">
                <a:solidFill>
                  <a:schemeClr val="bg1"/>
                </a:solidFill>
              </a:rPr>
              <a:t>Delivery Performance Overview</a:t>
            </a:r>
          </a:p>
          <a:p>
            <a:endParaRPr lang="en-US" sz="2600" b="1" dirty="0">
              <a:solidFill>
                <a:schemeClr val="bg1"/>
              </a:solidFill>
            </a:endParaRPr>
          </a:p>
        </p:txBody>
      </p:sp>
      <p:sp>
        <p:nvSpPr>
          <p:cNvPr id="9" name="TextBox 8">
            <a:extLst>
              <a:ext uri="{FF2B5EF4-FFF2-40B4-BE49-F238E27FC236}">
                <a16:creationId xmlns:a16="http://schemas.microsoft.com/office/drawing/2014/main" xmlns="" id="{64C39736-4E56-C93F-1A0F-08747466035F}"/>
              </a:ext>
            </a:extLst>
          </p:cNvPr>
          <p:cNvSpPr txBox="1"/>
          <p:nvPr/>
        </p:nvSpPr>
        <p:spPr>
          <a:xfrm>
            <a:off x="4798818" y="1168566"/>
            <a:ext cx="4267377" cy="2523768"/>
          </a:xfrm>
          <a:prstGeom prst="rect">
            <a:avLst/>
          </a:prstGeom>
          <a:noFill/>
        </p:spPr>
        <p:txBody>
          <a:bodyPr wrap="square">
            <a:spAutoFit/>
          </a:bodyPr>
          <a:lstStyle/>
          <a:p>
            <a:pPr marL="285750" indent="-285750">
              <a:buFont typeface="Arial" panose="020B0604020202020204" pitchFamily="34" charset="0"/>
              <a:buChar char="•"/>
            </a:pPr>
            <a:endParaRPr lang="en-US" dirty="0">
              <a:solidFill>
                <a:srgbClr val="002060"/>
              </a:solidFill>
            </a:endParaRPr>
          </a:p>
          <a:p>
            <a:pPr>
              <a:buFont typeface="Arial" panose="020B0604020202020204" pitchFamily="34" charset="0"/>
              <a:buChar char="•"/>
            </a:pPr>
            <a:r>
              <a:rPr lang="en-US" sz="1400" dirty="0">
                <a:solidFill>
                  <a:srgbClr val="002060"/>
                </a:solidFill>
              </a:rPr>
              <a:t>Delayed orders negatively impact customer satisfaction and trust </a:t>
            </a:r>
          </a:p>
          <a:p>
            <a:pPr>
              <a:buFont typeface="Arial" panose="020B0604020202020204" pitchFamily="34" charset="0"/>
              <a:buChar char="•"/>
            </a:pPr>
            <a:r>
              <a:rPr lang="en-US" sz="1400" dirty="0">
                <a:solidFill>
                  <a:srgbClr val="002060"/>
                </a:solidFill>
              </a:rPr>
              <a:t>Most orders are delivered on time (~80%), while around 20% are delayed </a:t>
            </a:r>
          </a:p>
          <a:p>
            <a:pPr>
              <a:buFont typeface="Arial" panose="020B0604020202020204" pitchFamily="34" charset="0"/>
              <a:buChar char="•"/>
            </a:pPr>
            <a:r>
              <a:rPr lang="en-US" sz="1400" dirty="0">
                <a:solidFill>
                  <a:srgbClr val="002060"/>
                </a:solidFill>
              </a:rPr>
              <a:t>Delivery performance directly affects repeat purchases and customer retention </a:t>
            </a:r>
          </a:p>
          <a:p>
            <a:pPr>
              <a:buFont typeface="Arial" panose="020B0604020202020204" pitchFamily="34" charset="0"/>
              <a:buChar char="•"/>
            </a:pPr>
            <a:r>
              <a:rPr lang="en-US" sz="1400" dirty="0">
                <a:solidFill>
                  <a:srgbClr val="002060"/>
                </a:solidFill>
              </a:rPr>
              <a:t>Improving logistics and reducing delays can significantly enhance overall performance </a:t>
            </a:r>
          </a:p>
          <a:p>
            <a:pPr>
              <a:buFont typeface="Arial" panose="020B0604020202020204" pitchFamily="34" charset="0"/>
              <a:buChar char="•"/>
            </a:pPr>
            <a:r>
              <a:rPr lang="en-US" sz="1400" dirty="0">
                <a:solidFill>
                  <a:srgbClr val="002060"/>
                </a:solidFill>
              </a:rPr>
              <a:t> Filters help focus the analysis by selecting relevant data from the dataset</a:t>
            </a:r>
          </a:p>
        </p:txBody>
      </p:sp>
      <p:sp>
        <p:nvSpPr>
          <p:cNvPr id="10" name="Shape 1">
            <a:extLst>
              <a:ext uri="{FF2B5EF4-FFF2-40B4-BE49-F238E27FC236}">
                <a16:creationId xmlns:a16="http://schemas.microsoft.com/office/drawing/2014/main" xmlns="" id="{28CEDB3A-5522-44F2-EFD5-F6D2AD98FCD4}"/>
              </a:ext>
            </a:extLst>
          </p:cNvPr>
          <p:cNvSpPr/>
          <p:nvPr/>
        </p:nvSpPr>
        <p:spPr>
          <a:xfrm>
            <a:off x="6383866" y="3543300"/>
            <a:ext cx="3339253" cy="3474720"/>
          </a:xfrm>
          <a:prstGeom prst="ellipse">
            <a:avLst/>
          </a:prstGeom>
          <a:solidFill>
            <a:srgbClr val="2A3580">
              <a:alpha val="60000"/>
            </a:srgbClr>
          </a:solidFill>
          <a:ln w="12700">
            <a:solidFill>
              <a:srgbClr val="2A3580"/>
            </a:solidFill>
            <a:prstDash val="solid"/>
          </a:ln>
        </p:spPr>
        <p:txBody>
          <a:bodyPr/>
          <a:lstStyle/>
          <a:p>
            <a:endParaRPr lang="en-US"/>
          </a:p>
        </p:txBody>
      </p:sp>
    </p:spTree>
    <p:extLst>
      <p:ext uri="{BB962C8B-B14F-4D97-AF65-F5344CB8AC3E}">
        <p14:creationId xmlns:p14="http://schemas.microsoft.com/office/powerpoint/2010/main" val="2509775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960120"/>
            <a:ext cx="9144000" cy="45720"/>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457200" y="0"/>
            <a:ext cx="8229600" cy="9601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TRENDS </a:t>
            </a:r>
            <a:r>
              <a:rPr lang="en-US" sz="2600" b="1" dirty="0" smtClean="0">
                <a:solidFill>
                  <a:srgbClr val="FFFFFF"/>
                </a:solidFill>
                <a:latin typeface="Calibri" pitchFamily="34" charset="0"/>
                <a:ea typeface="Calibri" pitchFamily="34" charset="-122"/>
                <a:cs typeface="Calibri" pitchFamily="34" charset="-120"/>
              </a:rPr>
              <a:t>and INSIGHTS</a:t>
            </a:r>
            <a:endParaRPr lang="en-US" sz="2600" dirty="0"/>
          </a:p>
        </p:txBody>
      </p:sp>
      <p:sp>
        <p:nvSpPr>
          <p:cNvPr id="5" name="Shape 3"/>
          <p:cNvSpPr/>
          <p:nvPr/>
        </p:nvSpPr>
        <p:spPr>
          <a:xfrm>
            <a:off x="320040" y="1170432"/>
            <a:ext cx="2697480" cy="1645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170432"/>
            <a:ext cx="91440" cy="1645920"/>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484632" y="1307592"/>
            <a:ext cx="411480" cy="411480"/>
          </a:xfrm>
          <a:prstGeom prst="ellipse">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84632" y="130759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960120" y="1307592"/>
            <a:ext cx="1965960" cy="41148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Revenue is seasonal, not linear</a:t>
            </a:r>
            <a:endParaRPr lang="en-US" sz="1050" dirty="0"/>
          </a:p>
        </p:txBody>
      </p:sp>
      <p:sp>
        <p:nvSpPr>
          <p:cNvPr id="10" name="Text 8"/>
          <p:cNvSpPr/>
          <p:nvPr/>
        </p:nvSpPr>
        <p:spPr>
          <a:xfrm>
            <a:off x="484632" y="1828800"/>
            <a:ext cx="2423160" cy="914400"/>
          </a:xfrm>
          <a:prstGeom prst="rect">
            <a:avLst/>
          </a:prstGeom>
          <a:noFill/>
          <a:ln/>
        </p:spPr>
        <p:txBody>
          <a:bodyPr wrap="square" lIns="0" tIns="0" rIns="0" bIns="0" rtlCol="0" anchor="ctr"/>
          <a:lstStyle/>
          <a:p>
            <a:pPr marL="0" indent="0">
              <a:buNone/>
            </a:pPr>
            <a:r>
              <a:rPr lang="en-US" sz="850" dirty="0">
                <a:solidFill>
                  <a:srgbClr val="64748B"/>
                </a:solidFill>
                <a:latin typeface="Calibri Light" pitchFamily="34" charset="0"/>
                <a:ea typeface="Calibri Light" pitchFamily="34" charset="-122"/>
                <a:cs typeface="Calibri Light" pitchFamily="34" charset="-120"/>
              </a:rPr>
              <a:t>Monthly revenue does not grow evenly. The line chart shows clear peaks and troughs  likely tied to promotional events or consumer behaviour patterns  indicating that demand is seasonal rather than driven by steady organic growth.</a:t>
            </a:r>
            <a:endParaRPr lang="en-US" sz="850" dirty="0"/>
          </a:p>
        </p:txBody>
      </p:sp>
      <p:sp>
        <p:nvSpPr>
          <p:cNvPr id="11" name="Shape 9"/>
          <p:cNvSpPr/>
          <p:nvPr/>
        </p:nvSpPr>
        <p:spPr>
          <a:xfrm>
            <a:off x="3246120" y="1170432"/>
            <a:ext cx="2697480" cy="1645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46120" y="1170432"/>
            <a:ext cx="91440" cy="1645920"/>
          </a:xfrm>
          <a:prstGeom prst="rect">
            <a:avLst/>
          </a:prstGeom>
          <a:solidFill>
            <a:srgbClr val="F59E0B"/>
          </a:solidFill>
          <a:ln w="12700">
            <a:solidFill>
              <a:srgbClr val="F59E0B"/>
            </a:solidFill>
            <a:prstDash val="solid"/>
          </a:ln>
        </p:spPr>
        <p:txBody>
          <a:bodyPr/>
          <a:lstStyle/>
          <a:p>
            <a:endParaRPr lang="en-US"/>
          </a:p>
        </p:txBody>
      </p:sp>
      <p:sp>
        <p:nvSpPr>
          <p:cNvPr id="13" name="Shape 11"/>
          <p:cNvSpPr/>
          <p:nvPr/>
        </p:nvSpPr>
        <p:spPr>
          <a:xfrm>
            <a:off x="3410712" y="1307592"/>
            <a:ext cx="411480" cy="411480"/>
          </a:xfrm>
          <a:prstGeom prst="ellipse">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3410712" y="130759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5" name="Text 13"/>
          <p:cNvSpPr/>
          <p:nvPr/>
        </p:nvSpPr>
        <p:spPr>
          <a:xfrm>
            <a:off x="3886200" y="1307592"/>
            <a:ext cx="1965960" cy="41148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Order volume is the primary growth lever</a:t>
            </a:r>
            <a:endParaRPr lang="en-US" sz="1050" dirty="0"/>
          </a:p>
        </p:txBody>
      </p:sp>
      <p:sp>
        <p:nvSpPr>
          <p:cNvPr id="16" name="Text 14"/>
          <p:cNvSpPr/>
          <p:nvPr/>
        </p:nvSpPr>
        <p:spPr>
          <a:xfrm>
            <a:off x="3410712" y="1828800"/>
            <a:ext cx="2423160" cy="914400"/>
          </a:xfrm>
          <a:prstGeom prst="rect">
            <a:avLst/>
          </a:prstGeom>
          <a:noFill/>
          <a:ln/>
        </p:spPr>
        <p:txBody>
          <a:bodyPr wrap="square" lIns="0" tIns="0" rIns="0" bIns="0" rtlCol="0" anchor="ctr"/>
          <a:lstStyle/>
          <a:p>
            <a:pPr marL="0" indent="0">
              <a:buNone/>
            </a:pPr>
            <a:r>
              <a:rPr lang="en-US" sz="850" dirty="0">
                <a:solidFill>
                  <a:srgbClr val="64748B"/>
                </a:solidFill>
                <a:latin typeface="Calibri Light" pitchFamily="34" charset="0"/>
                <a:ea typeface="Calibri Light" pitchFamily="34" charset="-122"/>
                <a:cs typeface="Calibri Light" pitchFamily="34" charset="-120"/>
              </a:rPr>
              <a:t>AOV tends to be relatively stable across months, which means revenue swings are driven predominantly by how many orders are placed not by customers spending more per visit. Increasing order frequency should be the main commercial focus.</a:t>
            </a:r>
            <a:endParaRPr lang="en-US" sz="850" dirty="0"/>
          </a:p>
        </p:txBody>
      </p:sp>
      <p:sp>
        <p:nvSpPr>
          <p:cNvPr id="17" name="Shape 15"/>
          <p:cNvSpPr/>
          <p:nvPr/>
        </p:nvSpPr>
        <p:spPr>
          <a:xfrm>
            <a:off x="6172200" y="1170432"/>
            <a:ext cx="2697480" cy="1645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6172200" y="1170432"/>
            <a:ext cx="91440" cy="1645920"/>
          </a:xfrm>
          <a:prstGeom prst="rect">
            <a:avLst/>
          </a:prstGeom>
          <a:solidFill>
            <a:srgbClr val="EF4444"/>
          </a:solidFill>
          <a:ln w="12700">
            <a:solidFill>
              <a:srgbClr val="EF4444"/>
            </a:solidFill>
            <a:prstDash val="solid"/>
          </a:ln>
        </p:spPr>
        <p:txBody>
          <a:bodyPr/>
          <a:lstStyle/>
          <a:p>
            <a:endParaRPr lang="en-US"/>
          </a:p>
        </p:txBody>
      </p:sp>
      <p:sp>
        <p:nvSpPr>
          <p:cNvPr id="19" name="Shape 17"/>
          <p:cNvSpPr/>
          <p:nvPr/>
        </p:nvSpPr>
        <p:spPr>
          <a:xfrm>
            <a:off x="6336792" y="1307592"/>
            <a:ext cx="411480" cy="411480"/>
          </a:xfrm>
          <a:prstGeom prst="ellipse">
            <a:avLst/>
          </a:prstGeom>
          <a:solidFill>
            <a:srgbClr val="EF4444"/>
          </a:solidFill>
          <a:ln w="12700">
            <a:solidFill>
              <a:srgbClr val="EF4444"/>
            </a:solidFill>
            <a:prstDash val="solid"/>
          </a:ln>
        </p:spPr>
        <p:txBody>
          <a:bodyPr/>
          <a:lstStyle/>
          <a:p>
            <a:endParaRPr lang="en-US"/>
          </a:p>
        </p:txBody>
      </p:sp>
      <p:sp>
        <p:nvSpPr>
          <p:cNvPr id="20" name="Text 18"/>
          <p:cNvSpPr/>
          <p:nvPr/>
        </p:nvSpPr>
        <p:spPr>
          <a:xfrm>
            <a:off x="6336792" y="130759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1" name="Text 19"/>
          <p:cNvSpPr/>
          <p:nvPr/>
        </p:nvSpPr>
        <p:spPr>
          <a:xfrm>
            <a:off x="6812280" y="1307592"/>
            <a:ext cx="1965960" cy="41148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Low months represent the largest opportunity</a:t>
            </a:r>
            <a:endParaRPr lang="en-US" sz="1050" dirty="0"/>
          </a:p>
        </p:txBody>
      </p:sp>
      <p:sp>
        <p:nvSpPr>
          <p:cNvPr id="22" name="Text 20"/>
          <p:cNvSpPr/>
          <p:nvPr/>
        </p:nvSpPr>
        <p:spPr>
          <a:xfrm>
            <a:off x="6336792" y="1828800"/>
            <a:ext cx="2423160" cy="914400"/>
          </a:xfrm>
          <a:prstGeom prst="rect">
            <a:avLst/>
          </a:prstGeom>
          <a:noFill/>
          <a:ln/>
        </p:spPr>
        <p:txBody>
          <a:bodyPr wrap="square" lIns="0" tIns="0" rIns="0" bIns="0" rtlCol="0" anchor="ctr"/>
          <a:lstStyle/>
          <a:p>
            <a:pPr marL="0" indent="0">
              <a:buNone/>
            </a:pPr>
            <a:r>
              <a:rPr lang="en-US" sz="850" dirty="0">
                <a:solidFill>
                  <a:srgbClr val="64748B"/>
                </a:solidFill>
                <a:latin typeface="Calibri Light" pitchFamily="34" charset="0"/>
                <a:ea typeface="Calibri Light" pitchFamily="34" charset="-122"/>
                <a:cs typeface="Calibri Light" pitchFamily="34" charset="-120"/>
              </a:rPr>
              <a:t>The gap between peak and trough monthly revenue is significant. Targeted campaigns discount events, loyalty incentives, or bundled offers  launched in low-performing months could materially improve annual revenue without increasing acquisition costs.</a:t>
            </a:r>
            <a:endParaRPr lang="en-US" sz="850" dirty="0"/>
          </a:p>
        </p:txBody>
      </p:sp>
      <p:sp>
        <p:nvSpPr>
          <p:cNvPr id="23" name="Shape 21"/>
          <p:cNvSpPr/>
          <p:nvPr/>
        </p:nvSpPr>
        <p:spPr>
          <a:xfrm>
            <a:off x="320040" y="2999232"/>
            <a:ext cx="2697480" cy="1645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320040" y="2999232"/>
            <a:ext cx="91440" cy="1645920"/>
          </a:xfrm>
          <a:prstGeom prst="rect">
            <a:avLst/>
          </a:prstGeom>
          <a:solidFill>
            <a:srgbClr val="2A3580"/>
          </a:solidFill>
          <a:ln w="12700">
            <a:solidFill>
              <a:srgbClr val="2A3580"/>
            </a:solidFill>
            <a:prstDash val="solid"/>
          </a:ln>
        </p:spPr>
        <p:txBody>
          <a:bodyPr/>
          <a:lstStyle/>
          <a:p>
            <a:endParaRPr lang="en-US"/>
          </a:p>
        </p:txBody>
      </p:sp>
      <p:sp>
        <p:nvSpPr>
          <p:cNvPr id="25" name="Shape 23"/>
          <p:cNvSpPr/>
          <p:nvPr/>
        </p:nvSpPr>
        <p:spPr>
          <a:xfrm>
            <a:off x="484632" y="3136392"/>
            <a:ext cx="411480" cy="411480"/>
          </a:xfrm>
          <a:prstGeom prst="ellipse">
            <a:avLst/>
          </a:prstGeom>
          <a:solidFill>
            <a:srgbClr val="2A3580"/>
          </a:solidFill>
          <a:ln w="12700">
            <a:solidFill>
              <a:srgbClr val="2A3580"/>
            </a:solidFill>
            <a:prstDash val="solid"/>
          </a:ln>
        </p:spPr>
        <p:txBody>
          <a:bodyPr/>
          <a:lstStyle/>
          <a:p>
            <a:endParaRPr lang="en-US"/>
          </a:p>
        </p:txBody>
      </p:sp>
      <p:sp>
        <p:nvSpPr>
          <p:cNvPr id="26" name="Text 24"/>
          <p:cNvSpPr/>
          <p:nvPr/>
        </p:nvSpPr>
        <p:spPr>
          <a:xfrm>
            <a:off x="484632" y="313639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7" name="Text 25"/>
          <p:cNvSpPr/>
          <p:nvPr/>
        </p:nvSpPr>
        <p:spPr>
          <a:xfrm>
            <a:off x="960120" y="3136392"/>
            <a:ext cx="1965960" cy="41148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Category revenue is highly concentrated</a:t>
            </a:r>
            <a:endParaRPr lang="en-US" sz="1050" dirty="0"/>
          </a:p>
        </p:txBody>
      </p:sp>
      <p:sp>
        <p:nvSpPr>
          <p:cNvPr id="28" name="Text 26"/>
          <p:cNvSpPr/>
          <p:nvPr/>
        </p:nvSpPr>
        <p:spPr>
          <a:xfrm>
            <a:off x="484632" y="3657600"/>
            <a:ext cx="2423160" cy="914400"/>
          </a:xfrm>
          <a:prstGeom prst="rect">
            <a:avLst/>
          </a:prstGeom>
          <a:noFill/>
          <a:ln/>
        </p:spPr>
        <p:txBody>
          <a:bodyPr wrap="square" lIns="0" tIns="0" rIns="0" bIns="0" rtlCol="0" anchor="ctr"/>
          <a:lstStyle/>
          <a:p>
            <a:pPr marL="0" indent="0">
              <a:buNone/>
            </a:pPr>
            <a:r>
              <a:rPr lang="en-US" sz="850" dirty="0">
                <a:solidFill>
                  <a:srgbClr val="64748B"/>
                </a:solidFill>
                <a:latin typeface="Calibri Light" pitchFamily="34" charset="0"/>
                <a:ea typeface="Calibri Light" pitchFamily="34" charset="-122"/>
                <a:cs typeface="Calibri Light" pitchFamily="34" charset="-120"/>
              </a:rPr>
              <a:t>The Product Performance page shows that a small number of categories generate a disproportionate share of revenue (visible in the clustered column chart). Protecting and growing these categories is critical to overall commercial health.</a:t>
            </a:r>
            <a:endParaRPr lang="en-US" sz="850" dirty="0"/>
          </a:p>
        </p:txBody>
      </p:sp>
      <p:sp>
        <p:nvSpPr>
          <p:cNvPr id="29" name="Shape 27"/>
          <p:cNvSpPr/>
          <p:nvPr/>
        </p:nvSpPr>
        <p:spPr>
          <a:xfrm>
            <a:off x="3246120" y="2999232"/>
            <a:ext cx="2697480" cy="16459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3246120" y="2999232"/>
            <a:ext cx="91440" cy="1645920"/>
          </a:xfrm>
          <a:prstGeom prst="rect">
            <a:avLst/>
          </a:prstGeom>
          <a:solidFill>
            <a:srgbClr val="14B8A6"/>
          </a:solidFill>
          <a:ln w="12700">
            <a:solidFill>
              <a:srgbClr val="14B8A6"/>
            </a:solidFill>
            <a:prstDash val="solid"/>
          </a:ln>
        </p:spPr>
        <p:txBody>
          <a:bodyPr/>
          <a:lstStyle/>
          <a:p>
            <a:endParaRPr lang="en-US"/>
          </a:p>
        </p:txBody>
      </p:sp>
      <p:sp>
        <p:nvSpPr>
          <p:cNvPr id="31" name="Shape 29"/>
          <p:cNvSpPr/>
          <p:nvPr/>
        </p:nvSpPr>
        <p:spPr>
          <a:xfrm>
            <a:off x="3410712" y="3136392"/>
            <a:ext cx="411480" cy="411480"/>
          </a:xfrm>
          <a:prstGeom prst="ellipse">
            <a:avLst/>
          </a:prstGeom>
          <a:solidFill>
            <a:srgbClr val="14B8A6"/>
          </a:solidFill>
          <a:ln w="12700">
            <a:solidFill>
              <a:srgbClr val="14B8A6"/>
            </a:solidFill>
            <a:prstDash val="solid"/>
          </a:ln>
        </p:spPr>
        <p:txBody>
          <a:bodyPr/>
          <a:lstStyle/>
          <a:p>
            <a:endParaRPr lang="en-US"/>
          </a:p>
        </p:txBody>
      </p:sp>
      <p:sp>
        <p:nvSpPr>
          <p:cNvPr id="32" name="Text 30"/>
          <p:cNvSpPr/>
          <p:nvPr/>
        </p:nvSpPr>
        <p:spPr>
          <a:xfrm>
            <a:off x="3410712" y="3136392"/>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33" name="Text 31"/>
          <p:cNvSpPr/>
          <p:nvPr/>
        </p:nvSpPr>
        <p:spPr>
          <a:xfrm>
            <a:off x="3886200" y="3136392"/>
            <a:ext cx="1965960" cy="41148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Regional demand is uneven</a:t>
            </a:r>
            <a:endParaRPr lang="en-US" sz="1050" dirty="0"/>
          </a:p>
        </p:txBody>
      </p:sp>
      <p:sp>
        <p:nvSpPr>
          <p:cNvPr id="34" name="Text 32"/>
          <p:cNvSpPr/>
          <p:nvPr/>
        </p:nvSpPr>
        <p:spPr>
          <a:xfrm>
            <a:off x="3410712" y="3657600"/>
            <a:ext cx="2423160" cy="914400"/>
          </a:xfrm>
          <a:prstGeom prst="rect">
            <a:avLst/>
          </a:prstGeom>
          <a:noFill/>
          <a:ln/>
        </p:spPr>
        <p:txBody>
          <a:bodyPr wrap="square" lIns="0" tIns="0" rIns="0" bIns="0" rtlCol="0" anchor="ctr"/>
          <a:lstStyle/>
          <a:p>
            <a:pPr marL="0" indent="0">
              <a:buNone/>
            </a:pPr>
            <a:r>
              <a:rPr lang="en-US" sz="850" dirty="0">
                <a:solidFill>
                  <a:srgbClr val="64748B"/>
                </a:solidFill>
                <a:latin typeface="Calibri Light" pitchFamily="34" charset="0"/>
                <a:ea typeface="Calibri Light" pitchFamily="34" charset="-122"/>
                <a:cs typeface="Calibri Light" pitchFamily="34" charset="-120"/>
              </a:rPr>
              <a:t>The Regional and Delivery Dashboard reveals that revenue is not distributed equally across states. High-revenue states represent a defensible base lower revenue states represent untapped expansion potential if delivery infrastructure and local marketing are invested in.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217920" y="-457200"/>
            <a:ext cx="4114800" cy="4114800"/>
          </a:xfrm>
          <a:prstGeom prst="ellipse">
            <a:avLst/>
          </a:prstGeom>
          <a:solidFill>
            <a:srgbClr val="2A3580">
              <a:alpha val="70000"/>
            </a:srgbClr>
          </a:solidFill>
          <a:ln w="12700">
            <a:solidFill>
              <a:srgbClr val="2A3580"/>
            </a:solidFill>
            <a:prstDash val="solid"/>
          </a:ln>
        </p:spPr>
        <p:txBody>
          <a:bodyPr/>
          <a:lstStyle/>
          <a:p>
            <a:endParaRPr lang="en-US"/>
          </a:p>
        </p:txBody>
      </p:sp>
      <p:sp>
        <p:nvSpPr>
          <p:cNvPr id="3" name="Shape 1"/>
          <p:cNvSpPr/>
          <p:nvPr/>
        </p:nvSpPr>
        <p:spPr>
          <a:xfrm>
            <a:off x="6858000" y="2926080"/>
            <a:ext cx="2743200" cy="2743200"/>
          </a:xfrm>
          <a:prstGeom prst="ellipse">
            <a:avLst/>
          </a:prstGeom>
          <a:solidFill>
            <a:srgbClr val="0D9488">
              <a:alpha val="25000"/>
            </a:srgbClr>
          </a:solidFill>
          <a:ln w="12700">
            <a:solidFill>
              <a:srgbClr val="0D9488"/>
            </a:solidFill>
            <a:prstDash val="solid"/>
          </a:ln>
        </p:spPr>
        <p:txBody>
          <a:bodyPr/>
          <a:lstStyle/>
          <a:p>
            <a:endParaRPr lang="en-US"/>
          </a:p>
        </p:txBody>
      </p:sp>
      <p:sp>
        <p:nvSpPr>
          <p:cNvPr id="4" name="Shape 2"/>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kern="0" spc="300" dirty="0">
                <a:solidFill>
                  <a:srgbClr val="FFFFFF"/>
                </a:solidFill>
                <a:latin typeface="Calibri" pitchFamily="34" charset="0"/>
                <a:ea typeface="Calibri" pitchFamily="34" charset="-122"/>
                <a:cs typeface="Calibri" pitchFamily="34" charset="-120"/>
              </a:rPr>
              <a:t>RECOMMENDATIONS</a:t>
            </a:r>
            <a:endParaRPr lang="en-US" sz="3000" dirty="0"/>
          </a:p>
        </p:txBody>
      </p:sp>
      <p:sp>
        <p:nvSpPr>
          <p:cNvPr id="6" name="Text 4"/>
          <p:cNvSpPr/>
          <p:nvPr/>
        </p:nvSpPr>
        <p:spPr>
          <a:xfrm>
            <a:off x="457200" y="868680"/>
            <a:ext cx="6400800" cy="320040"/>
          </a:xfrm>
          <a:prstGeom prst="rect">
            <a:avLst/>
          </a:prstGeom>
          <a:noFill/>
          <a:ln/>
        </p:spPr>
        <p:txBody>
          <a:bodyPr wrap="square" lIns="0" tIns="0" rIns="0" bIns="0" rtlCol="0" anchor="ctr"/>
          <a:lstStyle/>
          <a:p>
            <a:pPr marL="0" indent="0">
              <a:buNone/>
            </a:pPr>
            <a:r>
              <a:rPr lang="en-US" sz="1200" i="1" dirty="0">
                <a:solidFill>
                  <a:srgbClr val="CADCFC"/>
                </a:solidFill>
                <a:latin typeface="Calibri Light" pitchFamily="34" charset="0"/>
                <a:ea typeface="Calibri Light" pitchFamily="34" charset="-122"/>
                <a:cs typeface="Calibri Light" pitchFamily="34" charset="-120"/>
              </a:rPr>
              <a:t>Practical actions derived from sales analysis</a:t>
            </a:r>
            <a:endParaRPr lang="en-US" sz="1200" dirty="0"/>
          </a:p>
        </p:txBody>
      </p:sp>
      <p:sp>
        <p:nvSpPr>
          <p:cNvPr id="7" name="Shape 5"/>
          <p:cNvSpPr/>
          <p:nvPr/>
        </p:nvSpPr>
        <p:spPr>
          <a:xfrm>
            <a:off x="411480" y="1490472"/>
            <a:ext cx="457200" cy="457200"/>
          </a:xfrm>
          <a:prstGeom prst="ellipse">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11480" y="1490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1005840" y="1417320"/>
            <a:ext cx="7680960" cy="713232"/>
          </a:xfrm>
          <a:prstGeom prst="rect">
            <a:avLst/>
          </a:prstGeom>
          <a:solidFill>
            <a:srgbClr val="2A3580">
              <a:alpha val="80000"/>
            </a:srgbClr>
          </a:solidFill>
          <a:ln w="12700">
            <a:solidFill>
              <a:srgbClr val="334155"/>
            </a:solidFill>
            <a:prstDash val="solid"/>
          </a:ln>
        </p:spPr>
        <p:txBody>
          <a:bodyPr/>
          <a:lstStyle/>
          <a:p>
            <a:endParaRPr lang="en-US"/>
          </a:p>
        </p:txBody>
      </p:sp>
      <p:sp>
        <p:nvSpPr>
          <p:cNvPr id="10" name="Text 8"/>
          <p:cNvSpPr/>
          <p:nvPr/>
        </p:nvSpPr>
        <p:spPr>
          <a:xfrm>
            <a:off x="1143000" y="1453896"/>
            <a:ext cx="2560320" cy="347472"/>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Double down on peak months</a:t>
            </a:r>
            <a:endParaRPr lang="en-US" sz="1200" dirty="0"/>
          </a:p>
        </p:txBody>
      </p:sp>
      <p:sp>
        <p:nvSpPr>
          <p:cNvPr id="11" name="Text 9"/>
          <p:cNvSpPr/>
          <p:nvPr/>
        </p:nvSpPr>
        <p:spPr>
          <a:xfrm>
            <a:off x="3749040" y="145389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In May  and August increase marketing investment  ad spend, email campaigns, influencer activity in those periods by at least 20-30%. The demand already exists; the opportunity is to capture more of it.</a:t>
            </a:r>
            <a:endParaRPr lang="en-US" sz="950" dirty="0"/>
          </a:p>
        </p:txBody>
      </p:sp>
      <p:sp>
        <p:nvSpPr>
          <p:cNvPr id="12" name="Shape 10"/>
          <p:cNvSpPr/>
          <p:nvPr/>
        </p:nvSpPr>
        <p:spPr>
          <a:xfrm>
            <a:off x="3703320" y="1508760"/>
            <a:ext cx="27432" cy="530352"/>
          </a:xfrm>
          <a:prstGeom prst="rect">
            <a:avLst/>
          </a:prstGeom>
          <a:solidFill>
            <a:srgbClr val="0D9488"/>
          </a:solidFill>
          <a:ln w="12700">
            <a:solidFill>
              <a:srgbClr val="0D9488"/>
            </a:solidFill>
            <a:prstDash val="solid"/>
          </a:ln>
        </p:spPr>
        <p:txBody>
          <a:bodyPr/>
          <a:lstStyle/>
          <a:p>
            <a:endParaRPr lang="en-US"/>
          </a:p>
        </p:txBody>
      </p:sp>
      <p:sp>
        <p:nvSpPr>
          <p:cNvPr id="13" name="Shape 11"/>
          <p:cNvSpPr/>
          <p:nvPr/>
        </p:nvSpPr>
        <p:spPr>
          <a:xfrm>
            <a:off x="411480" y="2359152"/>
            <a:ext cx="457200" cy="457200"/>
          </a:xfrm>
          <a:prstGeom prst="ellipse">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411480" y="235915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Shape 13"/>
          <p:cNvSpPr/>
          <p:nvPr/>
        </p:nvSpPr>
        <p:spPr>
          <a:xfrm>
            <a:off x="1005840" y="2286000"/>
            <a:ext cx="7680960" cy="713232"/>
          </a:xfrm>
          <a:prstGeom prst="rect">
            <a:avLst/>
          </a:prstGeom>
          <a:solidFill>
            <a:srgbClr val="2A3580">
              <a:alpha val="80000"/>
            </a:srgbClr>
          </a:solidFill>
          <a:ln w="12700">
            <a:solidFill>
              <a:srgbClr val="334155"/>
            </a:solidFill>
            <a:prstDash val="solid"/>
          </a:ln>
        </p:spPr>
        <p:txBody>
          <a:bodyPr/>
          <a:lstStyle/>
          <a:p>
            <a:endParaRPr lang="en-US"/>
          </a:p>
        </p:txBody>
      </p:sp>
      <p:sp>
        <p:nvSpPr>
          <p:cNvPr id="16" name="Text 14"/>
          <p:cNvSpPr/>
          <p:nvPr/>
        </p:nvSpPr>
        <p:spPr>
          <a:xfrm>
            <a:off x="1143000" y="2322576"/>
            <a:ext cx="2560320" cy="347472"/>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Launch recovery campaigns in low months</a:t>
            </a:r>
            <a:endParaRPr lang="en-US" sz="1200" dirty="0"/>
          </a:p>
        </p:txBody>
      </p:sp>
      <p:sp>
        <p:nvSpPr>
          <p:cNvPr id="17" name="Text 15"/>
          <p:cNvSpPr/>
          <p:nvPr/>
        </p:nvSpPr>
        <p:spPr>
          <a:xfrm>
            <a:off x="3749040" y="232257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For months with below-average revenue (September and October ), run targeted promotions: flash sales, loyalty bonuses, or bundle offers. Even a 10% lift in the weakest months can add meaningful annual revenue with minimal cost.</a:t>
            </a:r>
            <a:endParaRPr lang="en-US" sz="950" dirty="0"/>
          </a:p>
        </p:txBody>
      </p:sp>
      <p:sp>
        <p:nvSpPr>
          <p:cNvPr id="18" name="Shape 16"/>
          <p:cNvSpPr/>
          <p:nvPr/>
        </p:nvSpPr>
        <p:spPr>
          <a:xfrm>
            <a:off x="3703320" y="2377440"/>
            <a:ext cx="27432" cy="530352"/>
          </a:xfrm>
          <a:prstGeom prst="rect">
            <a:avLst/>
          </a:prstGeom>
          <a:solidFill>
            <a:srgbClr val="0D9488"/>
          </a:solidFill>
          <a:ln w="12700">
            <a:solidFill>
              <a:srgbClr val="0D9488"/>
            </a:solidFill>
            <a:prstDash val="solid"/>
          </a:ln>
        </p:spPr>
        <p:txBody>
          <a:bodyPr/>
          <a:lstStyle/>
          <a:p>
            <a:endParaRPr lang="en-US"/>
          </a:p>
        </p:txBody>
      </p:sp>
      <p:sp>
        <p:nvSpPr>
          <p:cNvPr id="19" name="Shape 17"/>
          <p:cNvSpPr/>
          <p:nvPr/>
        </p:nvSpPr>
        <p:spPr>
          <a:xfrm>
            <a:off x="411480" y="3227832"/>
            <a:ext cx="457200" cy="457200"/>
          </a:xfrm>
          <a:prstGeom prst="ellipse">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411480" y="32278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Shape 19"/>
          <p:cNvSpPr/>
          <p:nvPr/>
        </p:nvSpPr>
        <p:spPr>
          <a:xfrm>
            <a:off x="1005840" y="3154680"/>
            <a:ext cx="7680960" cy="713232"/>
          </a:xfrm>
          <a:prstGeom prst="rect">
            <a:avLst/>
          </a:prstGeom>
          <a:solidFill>
            <a:srgbClr val="2A3580">
              <a:alpha val="80000"/>
            </a:srgbClr>
          </a:solidFill>
          <a:ln w="12700">
            <a:solidFill>
              <a:srgbClr val="334155"/>
            </a:solidFill>
            <a:prstDash val="solid"/>
          </a:ln>
        </p:spPr>
        <p:txBody>
          <a:bodyPr/>
          <a:lstStyle/>
          <a:p>
            <a:endParaRPr lang="en-US"/>
          </a:p>
        </p:txBody>
      </p:sp>
      <p:sp>
        <p:nvSpPr>
          <p:cNvPr id="22" name="Text 20"/>
          <p:cNvSpPr/>
          <p:nvPr/>
        </p:nvSpPr>
        <p:spPr>
          <a:xfrm>
            <a:off x="1143000" y="3191256"/>
            <a:ext cx="2560320" cy="347472"/>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Pre build inventory ahead of demand peaks</a:t>
            </a:r>
            <a:endParaRPr lang="en-US" sz="1200" dirty="0"/>
          </a:p>
        </p:txBody>
      </p:sp>
      <p:sp>
        <p:nvSpPr>
          <p:cNvPr id="23" name="Text 21"/>
          <p:cNvSpPr/>
          <p:nvPr/>
        </p:nvSpPr>
        <p:spPr>
          <a:xfrm>
            <a:off x="3749040" y="319125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Share the monthly trend data with the operations/logistics team. Begin stock planning 6-8 weeks before forecast peak periods to prevent stockouts and reduce last-minute procurement costs.</a:t>
            </a:r>
            <a:endParaRPr lang="en-US" sz="950" dirty="0"/>
          </a:p>
        </p:txBody>
      </p:sp>
      <p:sp>
        <p:nvSpPr>
          <p:cNvPr id="24" name="Shape 22"/>
          <p:cNvSpPr/>
          <p:nvPr/>
        </p:nvSpPr>
        <p:spPr>
          <a:xfrm>
            <a:off x="3703320" y="3246120"/>
            <a:ext cx="27432" cy="530352"/>
          </a:xfrm>
          <a:prstGeom prst="rect">
            <a:avLst/>
          </a:prstGeom>
          <a:solidFill>
            <a:srgbClr val="0D9488"/>
          </a:solidFill>
          <a:ln w="12700">
            <a:solidFill>
              <a:srgbClr val="0D9488"/>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217920" y="-457200"/>
            <a:ext cx="4114800" cy="4114800"/>
          </a:xfrm>
          <a:prstGeom prst="ellipse">
            <a:avLst/>
          </a:prstGeom>
          <a:solidFill>
            <a:srgbClr val="2A3580">
              <a:alpha val="70000"/>
            </a:srgbClr>
          </a:solidFill>
          <a:ln w="12700">
            <a:solidFill>
              <a:srgbClr val="2A3580"/>
            </a:solidFill>
            <a:prstDash val="solid"/>
          </a:ln>
        </p:spPr>
        <p:txBody>
          <a:bodyPr/>
          <a:lstStyle/>
          <a:p>
            <a:endParaRPr lang="en-US"/>
          </a:p>
        </p:txBody>
      </p:sp>
      <p:sp>
        <p:nvSpPr>
          <p:cNvPr id="3" name="Shape 1"/>
          <p:cNvSpPr/>
          <p:nvPr/>
        </p:nvSpPr>
        <p:spPr>
          <a:xfrm>
            <a:off x="6858000" y="2926080"/>
            <a:ext cx="2743200" cy="2743200"/>
          </a:xfrm>
          <a:prstGeom prst="ellipse">
            <a:avLst/>
          </a:prstGeom>
          <a:solidFill>
            <a:srgbClr val="0D9488">
              <a:alpha val="25000"/>
            </a:srgbClr>
          </a:solidFill>
          <a:ln w="12700">
            <a:solidFill>
              <a:srgbClr val="0D9488"/>
            </a:solidFill>
            <a:prstDash val="solid"/>
          </a:ln>
        </p:spPr>
        <p:txBody>
          <a:bodyPr/>
          <a:lstStyle/>
          <a:p>
            <a:endParaRPr lang="en-US"/>
          </a:p>
        </p:txBody>
      </p:sp>
      <p:sp>
        <p:nvSpPr>
          <p:cNvPr id="4" name="Shape 2"/>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kern="0" spc="300" dirty="0">
                <a:solidFill>
                  <a:srgbClr val="FFFFFF"/>
                </a:solidFill>
                <a:latin typeface="Calibri" pitchFamily="34" charset="0"/>
                <a:ea typeface="Calibri" pitchFamily="34" charset="-122"/>
                <a:cs typeface="Calibri" pitchFamily="34" charset="-120"/>
              </a:rPr>
              <a:t>RECOMMENDATIONS</a:t>
            </a:r>
            <a:endParaRPr lang="en-US" sz="3000" dirty="0"/>
          </a:p>
        </p:txBody>
      </p:sp>
      <p:sp>
        <p:nvSpPr>
          <p:cNvPr id="6" name="Text 4"/>
          <p:cNvSpPr/>
          <p:nvPr/>
        </p:nvSpPr>
        <p:spPr>
          <a:xfrm>
            <a:off x="457200" y="868680"/>
            <a:ext cx="6400800" cy="320040"/>
          </a:xfrm>
          <a:prstGeom prst="rect">
            <a:avLst/>
          </a:prstGeom>
          <a:noFill/>
          <a:ln/>
        </p:spPr>
        <p:txBody>
          <a:bodyPr wrap="square" lIns="0" tIns="0" rIns="0" bIns="0" rtlCol="0" anchor="ctr"/>
          <a:lstStyle/>
          <a:p>
            <a:pPr marL="0" indent="0">
              <a:buNone/>
            </a:pPr>
            <a:r>
              <a:rPr lang="en-US" sz="1200" i="1" dirty="0">
                <a:solidFill>
                  <a:srgbClr val="CADCFC"/>
                </a:solidFill>
                <a:latin typeface="Calibri Light" pitchFamily="34" charset="0"/>
                <a:ea typeface="Calibri Light" pitchFamily="34" charset="-122"/>
                <a:cs typeface="Calibri Light" pitchFamily="34" charset="-120"/>
              </a:rPr>
              <a:t>Practical actions derived from sales analysis</a:t>
            </a:r>
            <a:endParaRPr lang="en-US" sz="1200" dirty="0"/>
          </a:p>
        </p:txBody>
      </p:sp>
      <p:sp>
        <p:nvSpPr>
          <p:cNvPr id="7" name="Shape 5"/>
          <p:cNvSpPr/>
          <p:nvPr/>
        </p:nvSpPr>
        <p:spPr>
          <a:xfrm>
            <a:off x="411480" y="1490472"/>
            <a:ext cx="457200" cy="457200"/>
          </a:xfrm>
          <a:prstGeom prst="ellipse">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11480" y="149047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9" name="Shape 7"/>
          <p:cNvSpPr/>
          <p:nvPr/>
        </p:nvSpPr>
        <p:spPr>
          <a:xfrm>
            <a:off x="1005840" y="1417320"/>
            <a:ext cx="7680960" cy="713232"/>
          </a:xfrm>
          <a:prstGeom prst="rect">
            <a:avLst/>
          </a:prstGeom>
          <a:solidFill>
            <a:srgbClr val="2A3580">
              <a:alpha val="80000"/>
            </a:srgbClr>
          </a:solidFill>
          <a:ln w="12700">
            <a:solidFill>
              <a:srgbClr val="334155"/>
            </a:solidFill>
            <a:prstDash val="solid"/>
          </a:ln>
        </p:spPr>
        <p:txBody>
          <a:bodyPr/>
          <a:lstStyle/>
          <a:p>
            <a:endParaRPr lang="en-US" dirty="0"/>
          </a:p>
        </p:txBody>
      </p:sp>
      <p:sp>
        <p:nvSpPr>
          <p:cNvPr id="10" name="Text 8"/>
          <p:cNvSpPr/>
          <p:nvPr/>
        </p:nvSpPr>
        <p:spPr>
          <a:xfrm>
            <a:off x="1143000" y="1453896"/>
            <a:ext cx="2560320" cy="347472"/>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Invest in top-performing product categories</a:t>
            </a:r>
            <a:endParaRPr lang="en-US" sz="1200" dirty="0"/>
          </a:p>
        </p:txBody>
      </p:sp>
      <p:sp>
        <p:nvSpPr>
          <p:cNvPr id="11" name="Text 9"/>
          <p:cNvSpPr/>
          <p:nvPr/>
        </p:nvSpPr>
        <p:spPr>
          <a:xfrm>
            <a:off x="3749040" y="145389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Concentrate supplier negotiations, product development, and merchandising budget on the categories that drive the highest share of revenue. Diversifying prematurely dilutes focus from proven winners</a:t>
            </a:r>
            <a:endParaRPr lang="en-US" sz="950" dirty="0"/>
          </a:p>
        </p:txBody>
      </p:sp>
      <p:sp>
        <p:nvSpPr>
          <p:cNvPr id="12" name="Shape 10"/>
          <p:cNvSpPr/>
          <p:nvPr/>
        </p:nvSpPr>
        <p:spPr>
          <a:xfrm>
            <a:off x="3703320" y="1508760"/>
            <a:ext cx="27432" cy="530352"/>
          </a:xfrm>
          <a:prstGeom prst="rect">
            <a:avLst/>
          </a:prstGeom>
          <a:solidFill>
            <a:srgbClr val="0D9488"/>
          </a:solidFill>
          <a:ln w="12700">
            <a:solidFill>
              <a:srgbClr val="0D9488"/>
            </a:solidFill>
            <a:prstDash val="solid"/>
          </a:ln>
        </p:spPr>
        <p:txBody>
          <a:bodyPr/>
          <a:lstStyle/>
          <a:p>
            <a:endParaRPr lang="en-US"/>
          </a:p>
        </p:txBody>
      </p:sp>
      <p:sp>
        <p:nvSpPr>
          <p:cNvPr id="13" name="Shape 11"/>
          <p:cNvSpPr/>
          <p:nvPr/>
        </p:nvSpPr>
        <p:spPr>
          <a:xfrm>
            <a:off x="411480" y="2359152"/>
            <a:ext cx="457200" cy="457200"/>
          </a:xfrm>
          <a:prstGeom prst="ellipse">
            <a:avLst/>
          </a:prstGeom>
          <a:solidFill>
            <a:srgbClr val="0D9488"/>
          </a:solidFill>
          <a:ln w="12700">
            <a:solidFill>
              <a:srgbClr val="0D9488"/>
            </a:solidFill>
            <a:prstDash val="solid"/>
          </a:ln>
        </p:spPr>
        <p:txBody>
          <a:bodyPr/>
          <a:lstStyle/>
          <a:p>
            <a:endParaRPr lang="en-US" dirty="0"/>
          </a:p>
        </p:txBody>
      </p:sp>
      <p:sp>
        <p:nvSpPr>
          <p:cNvPr id="14" name="Text 12"/>
          <p:cNvSpPr/>
          <p:nvPr/>
        </p:nvSpPr>
        <p:spPr>
          <a:xfrm>
            <a:off x="411480" y="235915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5" name="Shape 13"/>
          <p:cNvSpPr/>
          <p:nvPr/>
        </p:nvSpPr>
        <p:spPr>
          <a:xfrm>
            <a:off x="1005840" y="2286000"/>
            <a:ext cx="7680960" cy="713232"/>
          </a:xfrm>
          <a:prstGeom prst="rect">
            <a:avLst/>
          </a:prstGeom>
          <a:solidFill>
            <a:srgbClr val="2A3580">
              <a:alpha val="80000"/>
            </a:srgbClr>
          </a:solidFill>
          <a:ln w="12700">
            <a:solidFill>
              <a:srgbClr val="334155"/>
            </a:solidFill>
            <a:prstDash val="solid"/>
          </a:ln>
        </p:spPr>
        <p:txBody>
          <a:bodyPr/>
          <a:lstStyle/>
          <a:p>
            <a:endParaRPr lang="en-US"/>
          </a:p>
        </p:txBody>
      </p:sp>
      <p:sp>
        <p:nvSpPr>
          <p:cNvPr id="16" name="Text 14"/>
          <p:cNvSpPr/>
          <p:nvPr/>
        </p:nvSpPr>
        <p:spPr>
          <a:xfrm>
            <a:off x="1143000" y="2322576"/>
            <a:ext cx="2560320" cy="347472"/>
          </a:xfrm>
          <a:prstGeom prst="rect">
            <a:avLst/>
          </a:prstGeom>
          <a:noFill/>
          <a:ln/>
        </p:spPr>
        <p:txBody>
          <a:bodyPr wrap="square" lIns="0" tIns="0" rIns="0" bIns="0" rtlCol="0" anchor="ctr"/>
          <a:lstStyle/>
          <a:p>
            <a:pPr marL="0" indent="0">
              <a:buNone/>
            </a:pPr>
            <a:r>
              <a:rPr lang="en-US" sz="1200" b="1" dirty="0" smtClean="0">
                <a:solidFill>
                  <a:srgbClr val="CADCFC"/>
                </a:solidFill>
                <a:latin typeface="Calibri" pitchFamily="34" charset="0"/>
                <a:ea typeface="Calibri" pitchFamily="34" charset="-122"/>
                <a:cs typeface="Calibri" pitchFamily="34" charset="-120"/>
              </a:rPr>
              <a:t>improve </a:t>
            </a:r>
            <a:r>
              <a:rPr lang="en-US" sz="1200" b="1" dirty="0">
                <a:solidFill>
                  <a:srgbClr val="CADCFC"/>
                </a:solidFill>
                <a:latin typeface="Calibri" pitchFamily="34" charset="0"/>
                <a:ea typeface="Calibri" pitchFamily="34" charset="-122"/>
                <a:cs typeface="Calibri" pitchFamily="34" charset="-120"/>
              </a:rPr>
              <a:t>delivery operations</a:t>
            </a:r>
            <a:endParaRPr lang="en-US" sz="1200" dirty="0"/>
          </a:p>
        </p:txBody>
      </p:sp>
      <p:sp>
        <p:nvSpPr>
          <p:cNvPr id="17" name="Text 15"/>
          <p:cNvSpPr/>
          <p:nvPr/>
        </p:nvSpPr>
        <p:spPr>
          <a:xfrm>
            <a:off x="3749040" y="232257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Invest in logistics infrastructure and optimize delivery processes to reduce delays and ensure faster order fulfillment, which enhances customer satisfaction and trust</a:t>
            </a:r>
            <a:endParaRPr lang="en-US" sz="950" dirty="0"/>
          </a:p>
        </p:txBody>
      </p:sp>
      <p:sp>
        <p:nvSpPr>
          <p:cNvPr id="18" name="Shape 16"/>
          <p:cNvSpPr/>
          <p:nvPr/>
        </p:nvSpPr>
        <p:spPr>
          <a:xfrm>
            <a:off x="3703320" y="2377440"/>
            <a:ext cx="27432" cy="530352"/>
          </a:xfrm>
          <a:prstGeom prst="rect">
            <a:avLst/>
          </a:prstGeom>
          <a:solidFill>
            <a:srgbClr val="0D9488"/>
          </a:solidFill>
          <a:ln w="12700">
            <a:solidFill>
              <a:srgbClr val="0D9488"/>
            </a:solidFill>
            <a:prstDash val="solid"/>
          </a:ln>
        </p:spPr>
        <p:txBody>
          <a:bodyPr/>
          <a:lstStyle/>
          <a:p>
            <a:endParaRPr lang="en-US"/>
          </a:p>
        </p:txBody>
      </p:sp>
      <p:sp>
        <p:nvSpPr>
          <p:cNvPr id="19" name="Shape 17"/>
          <p:cNvSpPr/>
          <p:nvPr/>
        </p:nvSpPr>
        <p:spPr>
          <a:xfrm>
            <a:off x="411480" y="3227832"/>
            <a:ext cx="457200" cy="457200"/>
          </a:xfrm>
          <a:prstGeom prst="ellipse">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411480" y="32278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Shape 19"/>
          <p:cNvSpPr/>
          <p:nvPr/>
        </p:nvSpPr>
        <p:spPr>
          <a:xfrm>
            <a:off x="1005840" y="3154680"/>
            <a:ext cx="7680960" cy="713232"/>
          </a:xfrm>
          <a:prstGeom prst="rect">
            <a:avLst/>
          </a:prstGeom>
          <a:solidFill>
            <a:srgbClr val="2A3580">
              <a:alpha val="80000"/>
            </a:srgbClr>
          </a:solidFill>
          <a:ln w="12700">
            <a:solidFill>
              <a:srgbClr val="334155"/>
            </a:solidFill>
            <a:prstDash val="solid"/>
          </a:ln>
        </p:spPr>
        <p:txBody>
          <a:bodyPr/>
          <a:lstStyle/>
          <a:p>
            <a:endParaRPr lang="en-US"/>
          </a:p>
        </p:txBody>
      </p:sp>
      <p:sp>
        <p:nvSpPr>
          <p:cNvPr id="22" name="Text 20"/>
          <p:cNvSpPr/>
          <p:nvPr/>
        </p:nvSpPr>
        <p:spPr>
          <a:xfrm>
            <a:off x="1143000" y="3191256"/>
            <a:ext cx="2560320" cy="347472"/>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Optimize delivery in weak regions</a:t>
            </a:r>
            <a:endParaRPr lang="en-US" sz="1200" dirty="0"/>
          </a:p>
        </p:txBody>
      </p:sp>
      <p:sp>
        <p:nvSpPr>
          <p:cNvPr id="23" name="Text 21"/>
          <p:cNvSpPr/>
          <p:nvPr/>
        </p:nvSpPr>
        <p:spPr>
          <a:xfrm>
            <a:off x="3749040" y="3191256"/>
            <a:ext cx="4754880" cy="640080"/>
          </a:xfrm>
          <a:prstGeom prst="rect">
            <a:avLst/>
          </a:prstGeom>
          <a:noFill/>
          <a:ln/>
        </p:spPr>
        <p:txBody>
          <a:bodyPr wrap="square" lIns="0" tIns="0" rIns="0" bIns="0" rtlCol="0" anchor="ctr"/>
          <a:lstStyle/>
          <a:p>
            <a:pPr marL="0" indent="0">
              <a:buNone/>
            </a:pPr>
            <a:r>
              <a:rPr lang="en-US" sz="950" dirty="0">
                <a:solidFill>
                  <a:srgbClr val="CADCFC"/>
                </a:solidFill>
                <a:latin typeface="Calibri Light" pitchFamily="34" charset="0"/>
                <a:ea typeface="Calibri Light" pitchFamily="34" charset="-122"/>
                <a:cs typeface="Calibri Light" pitchFamily="34" charset="-120"/>
              </a:rPr>
              <a:t>Identify underperforming regions and improve delivery efficiency by strengthening local logistics and distribution, leading to more reliable service and higher customer retention</a:t>
            </a:r>
            <a:endParaRPr lang="en-US" sz="950" dirty="0"/>
          </a:p>
        </p:txBody>
      </p:sp>
      <p:sp>
        <p:nvSpPr>
          <p:cNvPr id="24" name="Shape 22"/>
          <p:cNvSpPr/>
          <p:nvPr/>
        </p:nvSpPr>
        <p:spPr>
          <a:xfrm>
            <a:off x="3703320" y="3246120"/>
            <a:ext cx="27432" cy="530352"/>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411480" y="4096512"/>
            <a:ext cx="457200" cy="457200"/>
          </a:xfrm>
          <a:prstGeom prst="rect">
            <a:avLst/>
          </a:prstGeom>
          <a:noFill/>
          <a:ln/>
        </p:spPr>
        <p:txBody>
          <a:bodyPr wrap="square" lIns="0" tIns="0" rIns="0" bIns="0" rtlCol="0" anchor="ctr"/>
          <a:lstStyle/>
          <a:p>
            <a:pPr marL="0" indent="0" algn="ctr">
              <a:buNone/>
            </a:pPr>
            <a:endParaRPr lang="en-US" sz="1400" dirty="0"/>
          </a:p>
        </p:txBody>
      </p:sp>
      <p:sp>
        <p:nvSpPr>
          <p:cNvPr id="29" name="Text 27"/>
          <p:cNvSpPr/>
          <p:nvPr/>
        </p:nvSpPr>
        <p:spPr>
          <a:xfrm>
            <a:off x="3749040" y="4059936"/>
            <a:ext cx="4754880" cy="640080"/>
          </a:xfrm>
          <a:prstGeom prst="rect">
            <a:avLst/>
          </a:prstGeom>
          <a:noFill/>
          <a:ln/>
        </p:spPr>
        <p:txBody>
          <a:bodyPr wrap="square" lIns="0" tIns="0" rIns="0" bIns="0" rtlCol="0" anchor="ctr"/>
          <a:lstStyle/>
          <a:p>
            <a:pPr marL="0" indent="0">
              <a:buNone/>
            </a:pPr>
            <a:endParaRPr lang="en-US" sz="950" dirty="0"/>
          </a:p>
        </p:txBody>
      </p:sp>
    </p:spTree>
    <p:extLst>
      <p:ext uri="{BB962C8B-B14F-4D97-AF65-F5344CB8AC3E}">
        <p14:creationId xmlns:p14="http://schemas.microsoft.com/office/powerpoint/2010/main" val="4013449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217920" y="-457200"/>
            <a:ext cx="4114800" cy="4114800"/>
          </a:xfrm>
          <a:prstGeom prst="ellipse">
            <a:avLst/>
          </a:prstGeom>
          <a:solidFill>
            <a:srgbClr val="2A3580">
              <a:alpha val="70000"/>
            </a:srgbClr>
          </a:solidFill>
          <a:ln w="12700">
            <a:solidFill>
              <a:srgbClr val="2A3580"/>
            </a:solidFill>
            <a:prstDash val="solid"/>
          </a:ln>
        </p:spPr>
        <p:txBody>
          <a:bodyPr/>
          <a:lstStyle/>
          <a:p>
            <a:endParaRPr lang="en-US"/>
          </a:p>
        </p:txBody>
      </p:sp>
      <p:sp>
        <p:nvSpPr>
          <p:cNvPr id="3" name="Shape 1"/>
          <p:cNvSpPr/>
          <p:nvPr/>
        </p:nvSpPr>
        <p:spPr>
          <a:xfrm>
            <a:off x="6858000" y="2926080"/>
            <a:ext cx="2743200" cy="2743200"/>
          </a:xfrm>
          <a:prstGeom prst="ellipse">
            <a:avLst/>
          </a:prstGeom>
          <a:solidFill>
            <a:srgbClr val="0D9488">
              <a:alpha val="25000"/>
            </a:srgbClr>
          </a:solidFill>
          <a:ln w="12700">
            <a:solidFill>
              <a:srgbClr val="0D9488"/>
            </a:solidFill>
            <a:prstDash val="solid"/>
          </a:ln>
        </p:spPr>
        <p:txBody>
          <a:bodyPr/>
          <a:lstStyle/>
          <a:p>
            <a:endParaRPr lang="en-US"/>
          </a:p>
        </p:txBody>
      </p:sp>
      <p:sp>
        <p:nvSpPr>
          <p:cNvPr id="4" name="Shape 2"/>
          <p:cNvSpPr/>
          <p:nvPr/>
        </p:nvSpPr>
        <p:spPr>
          <a:xfrm>
            <a:off x="0" y="0"/>
            <a:ext cx="164592" cy="5143500"/>
          </a:xfrm>
          <a:prstGeom prst="rect">
            <a:avLst/>
          </a:prstGeom>
          <a:solidFill>
            <a:srgbClr val="F59E0B"/>
          </a:solidFill>
          <a:ln w="12700">
            <a:solidFill>
              <a:srgbClr val="F59E0B"/>
            </a:solidFill>
            <a:prstDash val="solid"/>
          </a:ln>
        </p:spPr>
        <p:txBody>
          <a:bodyPr/>
          <a:lstStyle/>
          <a:p>
            <a:endParaRPr lang="en-US"/>
          </a:p>
        </p:txBody>
      </p:sp>
      <p:sp>
        <p:nvSpPr>
          <p:cNvPr id="5" name="Text 3"/>
          <p:cNvSpPr/>
          <p:nvPr/>
        </p:nvSpPr>
        <p:spPr>
          <a:xfrm>
            <a:off x="457200" y="320040"/>
            <a:ext cx="8229600" cy="640080"/>
          </a:xfrm>
          <a:prstGeom prst="rect">
            <a:avLst/>
          </a:prstGeom>
          <a:noFill/>
          <a:ln/>
        </p:spPr>
        <p:txBody>
          <a:bodyPr wrap="square" lIns="0" tIns="0" rIns="0" bIns="0" rtlCol="0" anchor="ctr"/>
          <a:lstStyle/>
          <a:p>
            <a:pPr marL="0" indent="0">
              <a:buNone/>
            </a:pPr>
            <a:r>
              <a:rPr lang="en-US" sz="3000" b="1" kern="0" spc="300" dirty="0">
                <a:solidFill>
                  <a:srgbClr val="FFFFFF"/>
                </a:solidFill>
                <a:latin typeface="Calibri" pitchFamily="34" charset="0"/>
                <a:ea typeface="Calibri" pitchFamily="34" charset="-122"/>
                <a:cs typeface="Calibri" pitchFamily="34" charset="-120"/>
              </a:rPr>
              <a:t>   </a:t>
            </a:r>
            <a:r>
              <a:rPr lang="en-US" sz="3000" b="1" kern="0" spc="300" dirty="0">
                <a:solidFill>
                  <a:schemeClr val="accent4">
                    <a:lumMod val="75000"/>
                  </a:schemeClr>
                </a:solidFill>
                <a:latin typeface="Calibri" pitchFamily="34" charset="0"/>
                <a:ea typeface="Calibri" pitchFamily="34" charset="-122"/>
                <a:cs typeface="Calibri" pitchFamily="34" charset="-120"/>
              </a:rPr>
              <a:t>Conclusion</a:t>
            </a:r>
            <a:endParaRPr lang="en-US" sz="3000" dirty="0">
              <a:solidFill>
                <a:schemeClr val="accent4">
                  <a:lumMod val="75000"/>
                </a:schemeClr>
              </a:solidFill>
            </a:endParaRPr>
          </a:p>
        </p:txBody>
      </p:sp>
      <p:sp>
        <p:nvSpPr>
          <p:cNvPr id="29" name="Text 27"/>
          <p:cNvSpPr/>
          <p:nvPr/>
        </p:nvSpPr>
        <p:spPr>
          <a:xfrm>
            <a:off x="3749040" y="4059936"/>
            <a:ext cx="4754880" cy="640080"/>
          </a:xfrm>
          <a:prstGeom prst="rect">
            <a:avLst/>
          </a:prstGeom>
          <a:noFill/>
          <a:ln/>
        </p:spPr>
        <p:txBody>
          <a:bodyPr wrap="square" lIns="0" tIns="0" rIns="0" bIns="0" rtlCol="0" anchor="ctr"/>
          <a:lstStyle/>
          <a:p>
            <a:pPr marL="0" indent="0">
              <a:buNone/>
            </a:pPr>
            <a:endParaRPr lang="en-US" sz="950" dirty="0"/>
          </a:p>
        </p:txBody>
      </p:sp>
      <p:sp>
        <p:nvSpPr>
          <p:cNvPr id="32" name="TextBox 31">
            <a:extLst>
              <a:ext uri="{FF2B5EF4-FFF2-40B4-BE49-F238E27FC236}">
                <a16:creationId xmlns:a16="http://schemas.microsoft.com/office/drawing/2014/main" xmlns="" id="{9D95DFFB-3FE2-DBEF-7805-A8B05B1F04F2}"/>
              </a:ext>
            </a:extLst>
          </p:cNvPr>
          <p:cNvSpPr txBox="1"/>
          <p:nvPr/>
        </p:nvSpPr>
        <p:spPr>
          <a:xfrm>
            <a:off x="533400" y="783164"/>
            <a:ext cx="8519160" cy="4308872"/>
          </a:xfrm>
          <a:prstGeom prst="rect">
            <a:avLst/>
          </a:prstGeom>
          <a:noFill/>
        </p:spPr>
        <p:txBody>
          <a:bodyPr wrap="square">
            <a:spAutoFit/>
          </a:bodyPr>
          <a:lstStyle/>
          <a:p>
            <a:endParaRPr lang="en-US" b="1" dirty="0">
              <a:solidFill>
                <a:schemeClr val="accent1">
                  <a:lumMod val="60000"/>
                  <a:lumOff val="40000"/>
                </a:schemeClr>
              </a:solidFill>
            </a:endParaRPr>
          </a:p>
          <a:p>
            <a:r>
              <a:rPr lang="en-US" sz="2400" dirty="0">
                <a:solidFill>
                  <a:srgbClr val="0070C0"/>
                </a:solidFill>
              </a:rPr>
              <a:t>•</a:t>
            </a:r>
            <a:r>
              <a:rPr lang="en-US" dirty="0">
                <a:solidFill>
                  <a:schemeClr val="accent1">
                    <a:lumMod val="60000"/>
                    <a:lumOff val="40000"/>
                  </a:schemeClr>
                </a:solidFill>
              </a:rPr>
              <a:t> The analysis aimed to understand what drives revenue and how performance varies across time, products, regions, and delivery</a:t>
            </a:r>
          </a:p>
          <a:p>
            <a:r>
              <a:rPr lang="en-US" sz="2400" dirty="0">
                <a:solidFill>
                  <a:srgbClr val="0070C0"/>
                </a:solidFill>
              </a:rPr>
              <a:t>•</a:t>
            </a:r>
            <a:r>
              <a:rPr lang="en-US" dirty="0">
                <a:solidFill>
                  <a:schemeClr val="accent1">
                    <a:lumMod val="60000"/>
                    <a:lumOff val="40000"/>
                  </a:schemeClr>
                </a:solidFill>
              </a:rPr>
              <a:t> Results show that revenue follows a seasonal pattern, with clear peaks and low periods throughout the year</a:t>
            </a:r>
          </a:p>
          <a:p>
            <a:r>
              <a:rPr lang="en-US" sz="2400" dirty="0">
                <a:solidFill>
                  <a:srgbClr val="0070C0"/>
                </a:solidFill>
              </a:rPr>
              <a:t>•</a:t>
            </a:r>
            <a:r>
              <a:rPr lang="en-US" dirty="0">
                <a:solidFill>
                  <a:schemeClr val="accent1">
                    <a:lumMod val="60000"/>
                    <a:lumOff val="40000"/>
                  </a:schemeClr>
                </a:solidFill>
              </a:rPr>
              <a:t> Order volume is the main driver of revenue, while customer spending per order remains relatively stable</a:t>
            </a:r>
          </a:p>
          <a:p>
            <a:r>
              <a:rPr lang="en-US" sz="2400" dirty="0">
                <a:solidFill>
                  <a:srgbClr val="0070C0"/>
                </a:solidFill>
              </a:rPr>
              <a:t>•</a:t>
            </a:r>
            <a:r>
              <a:rPr lang="en-US" dirty="0">
                <a:solidFill>
                  <a:schemeClr val="accent1">
                    <a:lumMod val="60000"/>
                    <a:lumOff val="40000"/>
                  </a:schemeClr>
                </a:solidFill>
              </a:rPr>
              <a:t> Product categories and regions are unevenly distributed, with a strong concentration in top performers</a:t>
            </a:r>
          </a:p>
          <a:p>
            <a:r>
              <a:rPr lang="en-US" sz="2400" dirty="0">
                <a:solidFill>
                  <a:srgbClr val="0070C0"/>
                </a:solidFill>
              </a:rPr>
              <a:t>•</a:t>
            </a:r>
            <a:r>
              <a:rPr lang="en-US" dirty="0">
                <a:solidFill>
                  <a:schemeClr val="accent1">
                    <a:lumMod val="60000"/>
                    <a:lumOff val="40000"/>
                  </a:schemeClr>
                </a:solidFill>
              </a:rPr>
              <a:t> Delivery performance plays a critical role in customer satisfaction and overall business success</a:t>
            </a:r>
          </a:p>
          <a:p>
            <a:r>
              <a:rPr lang="en-US" sz="2400" dirty="0">
                <a:solidFill>
                  <a:srgbClr val="0070C0"/>
                </a:solidFill>
              </a:rPr>
              <a:t>•</a:t>
            </a:r>
            <a:r>
              <a:rPr lang="en-US" dirty="0">
                <a:solidFill>
                  <a:schemeClr val="accent1">
                    <a:lumMod val="60000"/>
                    <a:lumOff val="40000"/>
                  </a:schemeClr>
                </a:solidFill>
              </a:rPr>
              <a:t> By leveraging these insights and applying targeted strategies, the business can improve efficiency, increase revenue, and support long-term growth</a:t>
            </a:r>
          </a:p>
        </p:txBody>
      </p:sp>
    </p:spTree>
    <p:extLst>
      <p:ext uri="{BB962C8B-B14F-4D97-AF65-F5344CB8AC3E}">
        <p14:creationId xmlns:p14="http://schemas.microsoft.com/office/powerpoint/2010/main" val="3826304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731520" y="2926080"/>
            <a:ext cx="3657600" cy="3657600"/>
          </a:xfrm>
          <a:prstGeom prst="ellipse">
            <a:avLst/>
          </a:prstGeom>
          <a:solidFill>
            <a:srgbClr val="0D9488">
              <a:alpha val="20000"/>
            </a:srgbClr>
          </a:solidFill>
          <a:ln w="12700">
            <a:solidFill>
              <a:srgbClr val="0D9488"/>
            </a:solidFill>
            <a:prstDash val="solid"/>
          </a:ln>
        </p:spPr>
        <p:txBody>
          <a:bodyPr/>
          <a:lstStyle/>
          <a:p>
            <a:endParaRPr lang="en-US"/>
          </a:p>
        </p:txBody>
      </p:sp>
      <p:sp>
        <p:nvSpPr>
          <p:cNvPr id="3" name="Shape 1"/>
          <p:cNvSpPr/>
          <p:nvPr/>
        </p:nvSpPr>
        <p:spPr>
          <a:xfrm>
            <a:off x="7315200" y="-914400"/>
            <a:ext cx="3200400" cy="3200400"/>
          </a:xfrm>
          <a:prstGeom prst="ellipse">
            <a:avLst/>
          </a:prstGeom>
          <a:solidFill>
            <a:srgbClr val="2A3580">
              <a:alpha val="70000"/>
            </a:srgbClr>
          </a:solidFill>
          <a:ln w="12700">
            <a:solidFill>
              <a:srgbClr val="2A3580"/>
            </a:solidFill>
            <a:prstDash val="solid"/>
          </a:ln>
        </p:spPr>
        <p:txBody>
          <a:bodyPr/>
          <a:lstStyle/>
          <a:p>
            <a:endParaRPr lang="en-US"/>
          </a:p>
        </p:txBody>
      </p:sp>
      <p:sp>
        <p:nvSpPr>
          <p:cNvPr id="4" name="Text 2"/>
          <p:cNvSpPr/>
          <p:nvPr/>
        </p:nvSpPr>
        <p:spPr>
          <a:xfrm>
            <a:off x="914400" y="1920240"/>
            <a:ext cx="7315200" cy="109728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Text 3"/>
          <p:cNvSpPr/>
          <p:nvPr/>
        </p:nvSpPr>
        <p:spPr>
          <a:xfrm>
            <a:off x="914400" y="2377440"/>
            <a:ext cx="7315200" cy="502920"/>
          </a:xfrm>
          <a:prstGeom prst="rect">
            <a:avLst/>
          </a:prstGeom>
          <a:noFill/>
          <a:ln/>
        </p:spPr>
        <p:txBody>
          <a:bodyPr wrap="square" lIns="0" tIns="0" rIns="0" bIns="0" rtlCol="0" anchor="ctr"/>
          <a:lstStyle/>
          <a:p>
            <a:pPr marL="0" indent="0" algn="ctr">
              <a:buNone/>
            </a:pPr>
            <a:endParaRPr lang="en-US" sz="2000" dirty="0"/>
          </a:p>
        </p:txBody>
      </p:sp>
      <p:sp>
        <p:nvSpPr>
          <p:cNvPr id="6" name="Shape 4"/>
          <p:cNvSpPr/>
          <p:nvPr/>
        </p:nvSpPr>
        <p:spPr>
          <a:xfrm>
            <a:off x="3200400" y="3017520"/>
            <a:ext cx="2743200" cy="45720"/>
          </a:xfrm>
          <a:prstGeom prst="rect">
            <a:avLst/>
          </a:prstGeom>
          <a:solidFill>
            <a:srgbClr val="0D9488"/>
          </a:solidFill>
          <a:ln w="12700">
            <a:solidFill>
              <a:srgbClr val="0D9488"/>
            </a:solidFill>
            <a:prstDash val="solid"/>
          </a:ln>
        </p:spPr>
        <p:txBody>
          <a:bodyPr/>
          <a:lstStyle/>
          <a:p>
            <a:endParaRPr lang="en-US"/>
          </a:p>
        </p:txBody>
      </p:sp>
      <p:sp>
        <p:nvSpPr>
          <p:cNvPr id="7" name="Shape 5"/>
          <p:cNvSpPr/>
          <p:nvPr/>
        </p:nvSpPr>
        <p:spPr>
          <a:xfrm>
            <a:off x="457200" y="3337560"/>
            <a:ext cx="1554480" cy="457200"/>
          </a:xfrm>
          <a:prstGeom prst="roundRect">
            <a:avLst>
              <a:gd name="adj" fmla="val 16000"/>
            </a:avLst>
          </a:prstGeom>
          <a:solidFill>
            <a:srgbClr val="2A3580"/>
          </a:solidFill>
          <a:ln w="12700">
            <a:solidFill>
              <a:srgbClr val="0D9488"/>
            </a:solidFill>
            <a:prstDash val="solid"/>
          </a:ln>
        </p:spPr>
        <p:txBody>
          <a:bodyPr/>
          <a:lstStyle/>
          <a:p>
            <a:endParaRPr lang="en-US"/>
          </a:p>
        </p:txBody>
      </p:sp>
      <p:sp>
        <p:nvSpPr>
          <p:cNvPr id="8" name="Text 6"/>
          <p:cNvSpPr/>
          <p:nvPr/>
        </p:nvSpPr>
        <p:spPr>
          <a:xfrm>
            <a:off x="457200" y="3337560"/>
            <a:ext cx="1554480" cy="457200"/>
          </a:xfrm>
          <a:prstGeom prst="rect">
            <a:avLst/>
          </a:prstGeom>
          <a:noFill/>
          <a:ln/>
        </p:spPr>
        <p:txBody>
          <a:bodyPr wrap="square" lIns="0" tIns="0" rIns="0" bIns="0" rtlCol="0" anchor="ctr"/>
          <a:lstStyle/>
          <a:p>
            <a:pPr algn="ctr"/>
            <a:r>
              <a:rPr lang="en-US" sz="900" b="1" dirty="0" smtClean="0">
                <a:solidFill>
                  <a:schemeClr val="bg1">
                    <a:lumMod val="75000"/>
                  </a:schemeClr>
                </a:solidFill>
                <a:latin typeface="Calibri" pitchFamily="34" charset="0"/>
                <a:cs typeface="Calibri" pitchFamily="34" charset="-120"/>
              </a:rPr>
              <a:t>Business problem </a:t>
            </a:r>
            <a:endParaRPr lang="en-US" sz="900" dirty="0">
              <a:solidFill>
                <a:schemeClr val="bg1">
                  <a:lumMod val="75000"/>
                </a:schemeClr>
              </a:solidFill>
            </a:endParaRPr>
          </a:p>
        </p:txBody>
      </p:sp>
      <p:sp>
        <p:nvSpPr>
          <p:cNvPr id="9" name="Shape 7"/>
          <p:cNvSpPr/>
          <p:nvPr/>
        </p:nvSpPr>
        <p:spPr>
          <a:xfrm>
            <a:off x="2164080" y="3337560"/>
            <a:ext cx="1554480" cy="457200"/>
          </a:xfrm>
          <a:prstGeom prst="roundRect">
            <a:avLst>
              <a:gd name="adj" fmla="val 16000"/>
            </a:avLst>
          </a:prstGeom>
          <a:solidFill>
            <a:srgbClr val="2A3580"/>
          </a:solidFill>
          <a:ln w="12700">
            <a:solidFill>
              <a:srgbClr val="0D9488"/>
            </a:solidFill>
            <a:prstDash val="solid"/>
          </a:ln>
        </p:spPr>
        <p:txBody>
          <a:bodyPr/>
          <a:lstStyle/>
          <a:p>
            <a:endParaRPr lang="en-US"/>
          </a:p>
        </p:txBody>
      </p:sp>
      <p:sp>
        <p:nvSpPr>
          <p:cNvPr id="10" name="Text 8"/>
          <p:cNvSpPr/>
          <p:nvPr/>
        </p:nvSpPr>
        <p:spPr>
          <a:xfrm>
            <a:off x="2148840" y="3337560"/>
            <a:ext cx="1554480" cy="457200"/>
          </a:xfrm>
          <a:prstGeom prst="rect">
            <a:avLst/>
          </a:prstGeom>
          <a:noFill/>
          <a:ln/>
        </p:spPr>
        <p:txBody>
          <a:bodyPr wrap="square" lIns="0" tIns="0" rIns="0" bIns="0" rtlCol="0" anchor="ctr"/>
          <a:lstStyle/>
          <a:p>
            <a:pPr algn="ctr"/>
            <a:r>
              <a:rPr lang="en-US" sz="900" b="1" dirty="0" smtClean="0">
                <a:solidFill>
                  <a:srgbClr val="CADCFC"/>
                </a:solidFill>
                <a:latin typeface="Calibri" pitchFamily="34" charset="0"/>
                <a:cs typeface="Calibri" pitchFamily="34" charset="-120"/>
              </a:rPr>
              <a:t>Graphs </a:t>
            </a:r>
            <a:endParaRPr lang="en-US" sz="900" dirty="0"/>
          </a:p>
          <a:p>
            <a:pPr marL="0" indent="0" algn="ctr">
              <a:buNone/>
            </a:pPr>
            <a:endParaRPr lang="en-US" sz="900" dirty="0"/>
          </a:p>
        </p:txBody>
      </p:sp>
      <p:sp>
        <p:nvSpPr>
          <p:cNvPr id="11" name="Shape 9"/>
          <p:cNvSpPr/>
          <p:nvPr/>
        </p:nvSpPr>
        <p:spPr>
          <a:xfrm>
            <a:off x="3840480" y="3337560"/>
            <a:ext cx="1554480" cy="457200"/>
          </a:xfrm>
          <a:prstGeom prst="roundRect">
            <a:avLst>
              <a:gd name="adj" fmla="val 16000"/>
            </a:avLst>
          </a:prstGeom>
          <a:solidFill>
            <a:srgbClr val="2A3580"/>
          </a:solidFill>
          <a:ln w="12700">
            <a:solidFill>
              <a:srgbClr val="0D9488"/>
            </a:solidFill>
            <a:prstDash val="solid"/>
          </a:ln>
        </p:spPr>
        <p:txBody>
          <a:bodyPr/>
          <a:lstStyle/>
          <a:p>
            <a:endParaRPr lang="en-US"/>
          </a:p>
        </p:txBody>
      </p:sp>
      <p:sp>
        <p:nvSpPr>
          <p:cNvPr id="12" name="Text 10"/>
          <p:cNvSpPr/>
          <p:nvPr/>
        </p:nvSpPr>
        <p:spPr>
          <a:xfrm>
            <a:off x="3840480" y="3337560"/>
            <a:ext cx="1554480" cy="457200"/>
          </a:xfrm>
          <a:prstGeom prst="rect">
            <a:avLst/>
          </a:prstGeom>
          <a:noFill/>
          <a:ln/>
        </p:spPr>
        <p:txBody>
          <a:bodyPr wrap="square" lIns="0" tIns="0" rIns="0" bIns="0" rtlCol="0" anchor="ctr"/>
          <a:lstStyle/>
          <a:p>
            <a:pPr algn="ctr"/>
            <a:r>
              <a:rPr lang="en-US" sz="900" b="1" dirty="0">
                <a:solidFill>
                  <a:srgbClr val="CADCFC"/>
                </a:solidFill>
                <a:latin typeface="Calibri" pitchFamily="34" charset="0"/>
                <a:ea typeface="Calibri" pitchFamily="34" charset="-122"/>
                <a:cs typeface="Calibri" pitchFamily="34" charset="-120"/>
              </a:rPr>
              <a:t>5 Key Insights</a:t>
            </a:r>
            <a:endParaRPr lang="en-US" sz="900" dirty="0"/>
          </a:p>
        </p:txBody>
      </p:sp>
      <p:sp>
        <p:nvSpPr>
          <p:cNvPr id="13" name="Shape 11"/>
          <p:cNvSpPr/>
          <p:nvPr/>
        </p:nvSpPr>
        <p:spPr>
          <a:xfrm>
            <a:off x="5532120" y="3337560"/>
            <a:ext cx="1554480" cy="457200"/>
          </a:xfrm>
          <a:prstGeom prst="roundRect">
            <a:avLst>
              <a:gd name="adj" fmla="val 16000"/>
            </a:avLst>
          </a:prstGeom>
          <a:solidFill>
            <a:srgbClr val="2A3580"/>
          </a:solidFill>
          <a:ln w="12700">
            <a:solidFill>
              <a:srgbClr val="0D9488"/>
            </a:solidFill>
            <a:prstDash val="solid"/>
          </a:ln>
        </p:spPr>
        <p:txBody>
          <a:bodyPr/>
          <a:lstStyle/>
          <a:p>
            <a:endParaRPr lang="en-US"/>
          </a:p>
        </p:txBody>
      </p:sp>
      <p:sp>
        <p:nvSpPr>
          <p:cNvPr id="14" name="Text 12"/>
          <p:cNvSpPr/>
          <p:nvPr/>
        </p:nvSpPr>
        <p:spPr>
          <a:xfrm>
            <a:off x="5532120" y="3337560"/>
            <a:ext cx="1554480" cy="457200"/>
          </a:xfrm>
          <a:prstGeom prst="rect">
            <a:avLst/>
          </a:prstGeom>
          <a:noFill/>
          <a:ln/>
        </p:spPr>
        <p:txBody>
          <a:bodyPr wrap="square" lIns="0" tIns="0" rIns="0" bIns="0" rtlCol="0" anchor="ctr"/>
          <a:lstStyle/>
          <a:p>
            <a:pPr marL="0" indent="0" algn="ctr">
              <a:buNone/>
            </a:pPr>
            <a:r>
              <a:rPr lang="en-US" sz="900" b="1" dirty="0" smtClean="0">
                <a:solidFill>
                  <a:srgbClr val="CADCFC"/>
                </a:solidFill>
                <a:latin typeface="Calibri" pitchFamily="34" charset="0"/>
                <a:ea typeface="Calibri" pitchFamily="34" charset="-122"/>
                <a:cs typeface="Calibri" pitchFamily="34" charset="-120"/>
              </a:rPr>
              <a:t>Recommendations</a:t>
            </a:r>
            <a:endParaRPr lang="en-US" sz="900" dirty="0"/>
          </a:p>
        </p:txBody>
      </p:sp>
      <p:sp>
        <p:nvSpPr>
          <p:cNvPr id="15" name="Shape 13"/>
          <p:cNvSpPr/>
          <p:nvPr/>
        </p:nvSpPr>
        <p:spPr>
          <a:xfrm>
            <a:off x="7223760" y="3337560"/>
            <a:ext cx="1554480" cy="457200"/>
          </a:xfrm>
          <a:prstGeom prst="roundRect">
            <a:avLst>
              <a:gd name="adj" fmla="val 16000"/>
            </a:avLst>
          </a:prstGeom>
          <a:solidFill>
            <a:srgbClr val="2A3580"/>
          </a:solidFill>
          <a:ln w="12700">
            <a:solidFill>
              <a:srgbClr val="0D9488"/>
            </a:solidFill>
            <a:prstDash val="solid"/>
          </a:ln>
        </p:spPr>
        <p:txBody>
          <a:bodyPr/>
          <a:lstStyle/>
          <a:p>
            <a:endParaRPr lang="en-US"/>
          </a:p>
        </p:txBody>
      </p:sp>
      <p:sp>
        <p:nvSpPr>
          <p:cNvPr id="16" name="Text 14"/>
          <p:cNvSpPr/>
          <p:nvPr/>
        </p:nvSpPr>
        <p:spPr>
          <a:xfrm>
            <a:off x="7223760" y="3337560"/>
            <a:ext cx="1554480" cy="457200"/>
          </a:xfrm>
          <a:prstGeom prst="rect">
            <a:avLst/>
          </a:prstGeom>
          <a:noFill/>
          <a:ln/>
        </p:spPr>
        <p:txBody>
          <a:bodyPr wrap="square" lIns="0" tIns="0" rIns="0" bIns="0" rtlCol="0" anchor="ctr"/>
          <a:lstStyle/>
          <a:p>
            <a:pPr marL="0" indent="0" algn="ctr">
              <a:buNone/>
            </a:pPr>
            <a:r>
              <a:rPr lang="en-US" sz="900" b="1" dirty="0" smtClean="0">
                <a:solidFill>
                  <a:srgbClr val="CADCFC"/>
                </a:solidFill>
                <a:latin typeface="Calibri" pitchFamily="34" charset="0"/>
                <a:ea typeface="Calibri" pitchFamily="34" charset="-122"/>
                <a:cs typeface="Calibri" pitchFamily="34" charset="-120"/>
              </a:rPr>
              <a:t>Conclusion </a:t>
            </a:r>
            <a:endParaRPr lang="en-US" sz="900" dirty="0"/>
          </a:p>
        </p:txBody>
      </p:sp>
      <p:sp>
        <p:nvSpPr>
          <p:cNvPr id="17" name="Text 15"/>
          <p:cNvSpPr/>
          <p:nvPr/>
        </p:nvSpPr>
        <p:spPr>
          <a:xfrm>
            <a:off x="914400" y="4434840"/>
            <a:ext cx="7315200"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Light" pitchFamily="34" charset="0"/>
                <a:ea typeface="Calibri Light" pitchFamily="34" charset="-122"/>
                <a:cs typeface="Calibri Light" pitchFamily="34" charset="-120"/>
              </a:rPr>
              <a:t>E-Commerce Sales Analysis  |  Internship </a:t>
            </a:r>
            <a:r>
              <a:rPr lang="en-US" sz="1000" i="1" dirty="0" smtClean="0">
                <a:solidFill>
                  <a:srgbClr val="64748B"/>
                </a:solidFill>
                <a:latin typeface="Calibri Light" pitchFamily="34" charset="0"/>
                <a:ea typeface="Calibri Light" pitchFamily="34" charset="-122"/>
                <a:cs typeface="Calibri Light" pitchFamily="34" charset="-120"/>
              </a:rPr>
              <a:t>Presentation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939</Words>
  <Application>Microsoft Office PowerPoint</Application>
  <PresentationFormat>On-screen Show (16:9)</PresentationFormat>
  <Paragraphs>118</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Analysis</dc:title>
  <dc:subject>PptxGenJS Presentation</dc:subject>
  <dc:creator>PptxGenJS</dc:creator>
  <cp:lastModifiedBy>Maher</cp:lastModifiedBy>
  <cp:revision>8</cp:revision>
  <dcterms:created xsi:type="dcterms:W3CDTF">2026-04-10T13:14:51Z</dcterms:created>
  <dcterms:modified xsi:type="dcterms:W3CDTF">2026-05-06T10:49:02Z</dcterms:modified>
</cp:coreProperties>
</file>